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3DE996-5E1B-4D2A-9686-F37047152BD4}">
  <a:tblStyle styleId="{693DE996-5E1B-4D2A-9686-F37047152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8c03f61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8c03f61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98f33f77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98f33f77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f98f33f77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f98f33f77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8f33f77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98f33f77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98f33f77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98f33f77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98f33f7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f98f33f7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98f33f77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98f33f7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8c03f61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8c03f61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1dc067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1dc06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1dc067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11dc067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1dc0673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11dc0673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c03f61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8c03f61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9704b60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9704b6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8c03f61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8c03f61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9704b60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89704b6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Redes LAN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1.- </a:t>
            </a:r>
            <a:r>
              <a:rPr lang="es-419"/>
              <a:t>Topologías</a:t>
            </a:r>
            <a:r>
              <a:rPr lang="es-419"/>
              <a:t> de las redes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la disposición y organización de los elementos que conforman una red. Es decir la forma en que </a:t>
            </a:r>
            <a:r>
              <a:rPr lang="es-419"/>
              <a:t>están</a:t>
            </a:r>
            <a:r>
              <a:rPr lang="es-419"/>
              <a:t> estructuradas y se conectan entre si los nodos de esa 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Existen dos tipos de topologia: fisica y logica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Disposición de los nodos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Flujo de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Redundancia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Eficiencia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Facilidad de mantenimiento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1.1.- Topología de malla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Cada nodo </a:t>
            </a:r>
            <a:r>
              <a:rPr lang="es-419"/>
              <a:t>está</a:t>
            </a:r>
            <a:r>
              <a:rPr lang="es-419"/>
              <a:t> conectado a cada uno de los </a:t>
            </a:r>
            <a:r>
              <a:rPr lang="es-419"/>
              <a:t>demás</a:t>
            </a:r>
            <a:r>
              <a:rPr lang="es-419"/>
              <a:t> nodos en la red. Proporcionando </a:t>
            </a:r>
            <a:r>
              <a:rPr lang="es-419"/>
              <a:t>múltiples</a:t>
            </a:r>
            <a:r>
              <a:rPr lang="es-419"/>
              <a:t> rutas para el viaje de datos entre cada punto, teniendo mejor redundancia y resiliencia en la red.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8787" y="2168651"/>
            <a:ext cx="2746425" cy="26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1.2.- Topología de bus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Todos los dispositivos se conectan a un </a:t>
            </a:r>
            <a:r>
              <a:rPr lang="es-419"/>
              <a:t>único</a:t>
            </a:r>
            <a:r>
              <a:rPr lang="es-419"/>
              <a:t> cable llamado bus. Cada uno de los nodos se conecta al bus y se </a:t>
            </a:r>
            <a:r>
              <a:rPr lang="es-419"/>
              <a:t>envían</a:t>
            </a:r>
            <a:r>
              <a:rPr lang="es-419"/>
              <a:t> los datos a </a:t>
            </a:r>
            <a:r>
              <a:rPr lang="es-419"/>
              <a:t>través</a:t>
            </a:r>
            <a:r>
              <a:rPr lang="es-419"/>
              <a:t> de </a:t>
            </a:r>
            <a:r>
              <a:rPr lang="es-419"/>
              <a:t>él</a:t>
            </a:r>
            <a:r>
              <a:rPr lang="es-419"/>
              <a:t>, al ser un cable compartido solo se puede transmitir de un </a:t>
            </a:r>
            <a:r>
              <a:rPr lang="es-419"/>
              <a:t>dispositivo</a:t>
            </a:r>
            <a:r>
              <a:rPr lang="es-419"/>
              <a:t> a la vez.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823" y="2346398"/>
            <a:ext cx="4338350" cy="22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1.3.- Topología de anillo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todos los dispositivos se encuentran conectados en un lazo cerrado, cada uno de los nodos se conecta uno con el otro hasta llegar a primero. 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813" y="2089300"/>
            <a:ext cx="4244375" cy="23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1.4.- Topología de estrella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Todos los dispositivos </a:t>
            </a:r>
            <a:r>
              <a:rPr lang="es-419"/>
              <a:t>están</a:t>
            </a:r>
            <a:r>
              <a:rPr lang="es-419"/>
              <a:t> conectados a un dispositivo central, ya sea un </a:t>
            </a:r>
            <a:r>
              <a:rPr lang="es-419"/>
              <a:t>switch</a:t>
            </a:r>
            <a:r>
              <a:rPr lang="es-419"/>
              <a:t> o hub. Realizando una conmutación a los diferentes nodos.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913" y="1966250"/>
            <a:ext cx="3116175" cy="27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1.5.- Topología de árbol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la combinación de dos </a:t>
            </a:r>
            <a:r>
              <a:rPr lang="es-419"/>
              <a:t>topologías</a:t>
            </a:r>
            <a:r>
              <a:rPr lang="es-419"/>
              <a:t>: bus y estrella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 decir que en un solo cable, se conectan varias </a:t>
            </a:r>
            <a:r>
              <a:rPr lang="es-419"/>
              <a:t>topologías</a:t>
            </a:r>
            <a:r>
              <a:rPr lang="es-419"/>
              <a:t> tipo estrella. Por lo que es ideal para expansiones de redes.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788" y="2512150"/>
            <a:ext cx="3978424" cy="22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1.6.- Topología de hibrida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Es una combinación de dos a </a:t>
            </a:r>
            <a:r>
              <a:rPr lang="es-419"/>
              <a:t>más</a:t>
            </a:r>
            <a:r>
              <a:rPr lang="es-419"/>
              <a:t> </a:t>
            </a:r>
            <a:r>
              <a:rPr lang="es-419"/>
              <a:t>topologías</a:t>
            </a:r>
            <a:r>
              <a:rPr lang="es-419"/>
              <a:t> diferentes con el fin de aprovechar las fortalezas y mitigar las debilidades de cada una.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300" y="2367474"/>
            <a:ext cx="4497400" cy="20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139275"/>
            <a:ext cx="85206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redes locales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22"/>
              <a:t>Ethernet</a:t>
            </a:r>
            <a:endParaRPr sz="2222"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994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Conexión por cable para dispositivos </a:t>
            </a:r>
            <a:r>
              <a:rPr lang="es-419"/>
              <a:t>físicos</a:t>
            </a:r>
            <a:r>
              <a:rPr lang="es-419"/>
              <a:t> en un red. Existen varias </a:t>
            </a:r>
            <a:r>
              <a:rPr lang="es-419"/>
              <a:t>categorías</a:t>
            </a:r>
            <a:r>
              <a:rPr lang="es-419"/>
              <a:t> de RJ45, donde su principal diferencia se presenta en las velocidades y frecuencia.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952500" y="176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{693DE996-5E1B-4D2A-9686-F37047152BD4}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4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Categoría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Transferencia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Descarga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Potencia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0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 Mbps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15.5 MB/s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 MHz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5E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1,000 Mbps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150.5 MB/s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 MHz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1,000 Mbps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150.5 MB/s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250 MHz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6A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10,000 Mbps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1,250 MB/s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500 MHz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7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10,000 Mbps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1,250 MB/s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600 MHz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7A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10,000 Mbps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1,250 MB/s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1,250 MHz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 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40,000 Mbps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5,000 MB/s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2,000 MHz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139275"/>
            <a:ext cx="85206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redes locales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22"/>
              <a:t>Fast </a:t>
            </a:r>
            <a:r>
              <a:rPr lang="es-419" sz="2222"/>
              <a:t>Ethernet</a:t>
            </a:r>
            <a:endParaRPr sz="2222"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Su velocidad de transporte es de 100 Mbps, para identificarlos su nomenclatura consta de los siguientes elementos: el número 100 se refiere a la velocidad de </a:t>
            </a:r>
            <a:r>
              <a:rPr lang="es-419"/>
              <a:t>transmisión</a:t>
            </a:r>
            <a:r>
              <a:rPr lang="es-419"/>
              <a:t>, la palabra BASE es una “señalización de banda base”, la letra T o F es el tipo de medio </a:t>
            </a:r>
            <a:r>
              <a:rPr lang="es-419"/>
              <a:t>físico</a:t>
            </a:r>
            <a:r>
              <a:rPr lang="es-419"/>
              <a:t> de </a:t>
            </a:r>
            <a:r>
              <a:rPr lang="es-419"/>
              <a:t>transmisión</a:t>
            </a:r>
            <a:r>
              <a:rPr lang="es-419"/>
              <a:t> de datos y el </a:t>
            </a:r>
            <a:r>
              <a:rPr lang="es-419"/>
              <a:t>último</a:t>
            </a:r>
            <a:r>
              <a:rPr lang="es-419"/>
              <a:t> </a:t>
            </a:r>
            <a:r>
              <a:rPr lang="es-419"/>
              <a:t>carácter</a:t>
            </a:r>
            <a:r>
              <a:rPr lang="es-419"/>
              <a:t> es el </a:t>
            </a:r>
            <a:r>
              <a:rPr lang="es-419"/>
              <a:t>método</a:t>
            </a:r>
            <a:r>
              <a:rPr lang="es-419"/>
              <a:t> de codificación.</a:t>
            </a:r>
            <a:endParaRPr/>
          </a:p>
        </p:txBody>
      </p:sp>
      <p:graphicFrame>
        <p:nvGraphicFramePr>
          <p:cNvPr id="121" name="Google Shape;121;p22"/>
          <p:cNvGraphicFramePr/>
          <p:nvPr/>
        </p:nvGraphicFramePr>
        <p:xfrm>
          <a:off x="1857375" y="288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{693DE996-5E1B-4D2A-9686-F37047152BD4}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19191A"/>
                          </a:solidFill>
                        </a:rPr>
                        <a:t>Nombre</a:t>
                      </a:r>
                      <a:endParaRPr b="1"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19191A"/>
                          </a:solidFill>
                        </a:rPr>
                        <a:t>Cable</a:t>
                      </a:r>
                      <a:endParaRPr b="1"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19191A"/>
                          </a:solidFill>
                        </a:rPr>
                        <a:t>Segmento máximo</a:t>
                      </a:r>
                      <a:endParaRPr b="1"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100Base-T4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Cable de par trenzado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100m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100Base-Tx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Cable de par trenzado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100m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100Base-FX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Fibra óptica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solidFill>
                            <a:srgbClr val="19191A"/>
                          </a:solidFill>
                        </a:rPr>
                        <a:t>2000m</a:t>
                      </a:r>
                      <a:endParaRPr sz="1050">
                        <a:solidFill>
                          <a:srgbClr val="19191A"/>
                        </a:solidFill>
                      </a:endParaRPr>
                    </a:p>
                  </a:txBody>
                  <a:tcPr marT="95250" marB="95250" marR="114300" marL="114300" anchor="ctr">
                    <a:lnL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DF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139275"/>
            <a:ext cx="85206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redes locales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22"/>
              <a:t>Gigabit </a:t>
            </a:r>
            <a:r>
              <a:rPr lang="es-419" sz="2222"/>
              <a:t>Ethernet</a:t>
            </a:r>
            <a:endParaRPr sz="2222"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972275"/>
            <a:ext cx="8520600" cy="3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Transmisión basada en tramas y el protocolo Ethernet, su velocidad es de 1Gbit por segundo</a:t>
            </a:r>
            <a:endParaRPr/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952500" y="174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{693DE996-5E1B-4D2A-9686-F37047152BD4}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Categoría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Tipo de cable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Alcance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1000Base-CX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Cobre blindado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25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1000Base-SX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Fibra optica multimodo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220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1000Base-LX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Fibra </a:t>
                      </a:r>
                      <a:r>
                        <a:rPr lang="es-419"/>
                        <a:t>óptica</a:t>
                      </a:r>
                      <a:r>
                        <a:rPr lang="es-419"/>
                        <a:t> monomodo o multimodo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 km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Cable trenzado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1000Base-T1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Cable trenzado - un par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15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1000Base-TX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Cable trenzado mejorado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1000Base-KX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Placas 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 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139275"/>
            <a:ext cx="85206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redes locales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22"/>
              <a:t>10 Gigabit </a:t>
            </a:r>
            <a:r>
              <a:rPr lang="es-419" sz="2222"/>
              <a:t>Ethernet</a:t>
            </a:r>
            <a:endParaRPr sz="2222"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5" name="Google Shape;135;p24"/>
          <p:cNvGraphicFramePr/>
          <p:nvPr/>
        </p:nvGraphicFramePr>
        <p:xfrm>
          <a:off x="952500" y="21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{693DE996-5E1B-4D2A-9686-F37047152BD4}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/>
                        <a:t>Categoria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/>
                        <a:t>Medio de transmisión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/>
                        <a:t>Distancia máxima</a:t>
                      </a:r>
                      <a:endParaRPr b="1"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10GBASE-SR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Fibra óptica multimodo (MMF)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300 m (OM3) / 400 m (OM4)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10GBASE-LR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Fibra óptica monomodo (SMF)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Hasta 10 km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Fibra óptica monomodo (SMF)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Hasta 40 km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10GBASE-LX4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Fibra multimodo o monomodo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300 m (MMF) / 10 km (SMF)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Cable de par trenzado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55 m (Cat 6) / 100 m (Cat 6a o superior)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10GBASE-CX4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Cable de cobre trenzado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15 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Segmentación de una red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Consiste en dividir una red en subredes o segmentos </a:t>
            </a:r>
            <a:r>
              <a:rPr lang="es-419"/>
              <a:t>más</a:t>
            </a:r>
            <a:r>
              <a:rPr lang="es-419"/>
              <a:t> pequeños. Cada segmento es considerado como una identidad independiente.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Existen las VLAN, listas de control de acceso, </a:t>
            </a:r>
            <a:r>
              <a:rPr lang="es-419"/>
              <a:t>cortafuegos</a:t>
            </a:r>
            <a:r>
              <a:rPr lang="es-419"/>
              <a:t> internos y separación </a:t>
            </a:r>
            <a:r>
              <a:rPr lang="es-419"/>
              <a:t>física</a:t>
            </a:r>
            <a:r>
              <a:rPr lang="es-419"/>
              <a:t> de la 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los beneficios por segmentar la red son: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Mejora de rendimiento en la 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Controlar el acceso a recursos confidenciales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Reducir la superficie de ataque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Bloquea el movimiento lateral y protege mejor contra las ciberamenazas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Optimizar el cumplimiento normativo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segmentación de una red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Segmentación </a:t>
            </a:r>
            <a:r>
              <a:rPr b="1" lang="es-419"/>
              <a:t>lógica</a:t>
            </a:r>
            <a:r>
              <a:rPr b="1" lang="es-419"/>
              <a:t>:</a:t>
            </a:r>
            <a:r>
              <a:rPr lang="es-419"/>
              <a:t> utiliza el enfoque de VLAN, subredes o redes </a:t>
            </a:r>
            <a:r>
              <a:rPr lang="es-419"/>
              <a:t>definidas</a:t>
            </a:r>
            <a:r>
              <a:rPr lang="es-419"/>
              <a:t> por software con el fin de crear </a:t>
            </a:r>
            <a:r>
              <a:rPr lang="es-419"/>
              <a:t>límites</a:t>
            </a:r>
            <a:r>
              <a:rPr lang="es-419"/>
              <a:t> virtuales dentro de una red </a:t>
            </a:r>
            <a:r>
              <a:rPr lang="es-419"/>
              <a:t>física</a:t>
            </a:r>
            <a:r>
              <a:rPr lang="es-419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Segmentación </a:t>
            </a:r>
            <a:r>
              <a:rPr b="1" lang="es-419"/>
              <a:t>física</a:t>
            </a:r>
            <a:r>
              <a:rPr b="1" lang="es-419"/>
              <a:t>:</a:t>
            </a:r>
            <a:r>
              <a:rPr lang="es-419"/>
              <a:t> se divide la red con </a:t>
            </a:r>
            <a:r>
              <a:rPr lang="es-419"/>
              <a:t>segmentos</a:t>
            </a:r>
            <a:r>
              <a:rPr lang="es-419"/>
              <a:t> separados mediante hardware e </a:t>
            </a:r>
            <a:r>
              <a:rPr lang="es-419"/>
              <a:t>infraestructura</a:t>
            </a:r>
            <a:r>
              <a:rPr lang="es-419"/>
              <a:t> dedicada.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/>
              <a:t>Segmentación basada en el </a:t>
            </a:r>
            <a:r>
              <a:rPr b="1" lang="es-419"/>
              <a:t>perímetro</a:t>
            </a:r>
            <a:r>
              <a:rPr b="1" lang="es-419"/>
              <a:t>:</a:t>
            </a:r>
            <a:r>
              <a:rPr lang="es-419"/>
              <a:t> se definen </a:t>
            </a:r>
            <a:r>
              <a:rPr lang="es-419"/>
              <a:t>límites</a:t>
            </a:r>
            <a:r>
              <a:rPr lang="es-419"/>
              <a:t> entre las redes internas de confianza y las externas no confiables, por medio de contrafuegos o listas de control.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VLAN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Segmento </a:t>
            </a:r>
            <a:r>
              <a:rPr lang="es-419"/>
              <a:t>lógico</a:t>
            </a:r>
            <a:r>
              <a:rPr lang="es-419"/>
              <a:t> pequeño, </a:t>
            </a:r>
            <a:r>
              <a:rPr lang="es-419"/>
              <a:t>están</a:t>
            </a:r>
            <a:r>
              <a:rPr lang="es-419"/>
              <a:t> conectan diferentes estaciones siempre y cuando </a:t>
            </a:r>
            <a:r>
              <a:rPr lang="es-419"/>
              <a:t>estén</a:t>
            </a:r>
            <a:r>
              <a:rPr lang="es-419"/>
              <a:t> conectadas en la misma LAN. El hardware que se </a:t>
            </a:r>
            <a:r>
              <a:rPr lang="es-419"/>
              <a:t>necesita</a:t>
            </a:r>
            <a:r>
              <a:rPr lang="es-419"/>
              <a:t> es un switch gestionable. </a:t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088" y="2571749"/>
            <a:ext cx="4246726" cy="23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VLAN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Basada en puertos: </a:t>
            </a:r>
            <a:r>
              <a:rPr lang="es-419"/>
              <a:t>enruta a cada participante de la red con un switch a </a:t>
            </a:r>
            <a:r>
              <a:rPr lang="es-419"/>
              <a:t>través</a:t>
            </a:r>
            <a:r>
              <a:rPr lang="es-419"/>
              <a:t> de un puerto. Por lo que la asignación es </a:t>
            </a:r>
            <a:r>
              <a:rPr lang="es-419"/>
              <a:t>más</a:t>
            </a:r>
            <a:r>
              <a:rPr lang="es-419"/>
              <a:t> </a:t>
            </a:r>
            <a:r>
              <a:rPr lang="es-419"/>
              <a:t>estática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/>
              <a:t>Etiquetada:</a:t>
            </a:r>
            <a:r>
              <a:rPr lang="es-419"/>
              <a:t> se hace una asignación </a:t>
            </a:r>
            <a:r>
              <a:rPr lang="es-419"/>
              <a:t>dinámica</a:t>
            </a:r>
            <a:r>
              <a:rPr lang="es-419"/>
              <a:t>, se incluye una tag en el datagrama. Se tiene una longitud de 32 bits, inicia con un ID de protocolo de etiqueta con un tamaño de 2 bytes, posteriormente 3 bits que </a:t>
            </a:r>
            <a:r>
              <a:rPr lang="es-419"/>
              <a:t>establece</a:t>
            </a:r>
            <a:r>
              <a:rPr lang="es-419"/>
              <a:t> la prioridad del mensaje, luego se tiene el indicador de formato </a:t>
            </a:r>
            <a:r>
              <a:rPr lang="es-419"/>
              <a:t>canónico</a:t>
            </a:r>
            <a:r>
              <a:rPr lang="es-419"/>
              <a:t> de 1 bit que verifica la compatibilidad entre Ethernet y otra estructura de red conocido como token ring, en los </a:t>
            </a:r>
            <a:r>
              <a:rPr lang="es-419"/>
              <a:t>últimos</a:t>
            </a:r>
            <a:r>
              <a:rPr lang="es-419"/>
              <a:t> 12 bits se identifica el ID de VLAN.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