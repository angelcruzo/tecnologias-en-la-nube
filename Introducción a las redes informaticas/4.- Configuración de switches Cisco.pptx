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PT Sans Narrow"/>
      <p:regular r:id="rId18"/>
      <p:bold r:id="rId19"/>
    </p:embeddedFont>
    <p:embeddedFont>
      <p:font typeface="Open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824ECD-2358-430B-A8BD-1B33570642A3}">
  <a:tblStyle styleId="{B1824ECD-2358-430B-A8BD-1B33570642A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regular.fntdata"/><Relationship Id="rId11" Type="http://schemas.openxmlformats.org/officeDocument/2006/relationships/slide" Target="slides/slide5.xml"/><Relationship Id="rId22" Type="http://schemas.openxmlformats.org/officeDocument/2006/relationships/font" Target="fonts/OpenSans-italic.fntdata"/><Relationship Id="rId10" Type="http://schemas.openxmlformats.org/officeDocument/2006/relationships/slide" Target="slides/slide4.xml"/><Relationship Id="rId21" Type="http://schemas.openxmlformats.org/officeDocument/2006/relationships/font" Target="fonts/OpenSans-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PTSansNarrow-bold.fntdata"/><Relationship Id="rId6" Type="http://schemas.openxmlformats.org/officeDocument/2006/relationships/notesMaster" Target="notesMasters/notesMaster1.xml"/><Relationship Id="rId18" Type="http://schemas.openxmlformats.org/officeDocument/2006/relationships/font" Target="fonts/PTSansNarrow-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8c1b636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8c1b636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8c1b6368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8c1b6368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8c1b6368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88c1b6368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8f59a9fa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8f59a9fa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8f59a9fab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8f59a9fab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8f59a9fab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8f59a9fab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446717d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446717d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446717da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446717da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8f59a9fa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8f59a9fa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446717da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446717da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solvetic.com/tutoriales/article/170-comandos-cisco-sho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s-419"/>
              <a:t>Configuración de switches Cisco</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Interfaz de un router</a:t>
            </a:r>
            <a:endParaRPr/>
          </a:p>
        </p:txBody>
      </p:sp>
      <p:sp>
        <p:nvSpPr>
          <p:cNvPr id="73" name="Google Shape;73;p14"/>
          <p:cNvSpPr txBox="1"/>
          <p:nvPr>
            <p:ph idx="1" type="body"/>
          </p:nvPr>
        </p:nvSpPr>
        <p:spPr>
          <a:xfrm>
            <a:off x="311700" y="1266325"/>
            <a:ext cx="43770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Puertos de red</a:t>
            </a:r>
            <a:endParaRPr/>
          </a:p>
          <a:p>
            <a:pPr indent="-342900" lvl="0" marL="457200" rtl="0" algn="l">
              <a:spcBef>
                <a:spcPts val="0"/>
              </a:spcBef>
              <a:spcAft>
                <a:spcPts val="0"/>
              </a:spcAft>
              <a:buSzPts val="1800"/>
              <a:buChar char="●"/>
            </a:pPr>
            <a:r>
              <a:rPr lang="es-419"/>
              <a:t>Puertos WAN</a:t>
            </a:r>
            <a:endParaRPr/>
          </a:p>
          <a:p>
            <a:pPr indent="-342900" lvl="0" marL="457200" rtl="0" algn="l">
              <a:spcBef>
                <a:spcPts val="0"/>
              </a:spcBef>
              <a:spcAft>
                <a:spcPts val="0"/>
              </a:spcAft>
              <a:buSzPts val="1800"/>
              <a:buChar char="●"/>
            </a:pPr>
            <a:r>
              <a:rPr lang="es-419"/>
              <a:t>Puertos de consola</a:t>
            </a:r>
            <a:endParaRPr/>
          </a:p>
          <a:p>
            <a:pPr indent="-342900" lvl="0" marL="457200" rtl="0" algn="l">
              <a:spcBef>
                <a:spcPts val="0"/>
              </a:spcBef>
              <a:spcAft>
                <a:spcPts val="0"/>
              </a:spcAft>
              <a:buSzPts val="1800"/>
              <a:buChar char="●"/>
            </a:pPr>
            <a:r>
              <a:rPr lang="es-419"/>
              <a:t>Puertos seriales</a:t>
            </a:r>
            <a:endParaRPr/>
          </a:p>
          <a:p>
            <a:pPr indent="-342900" lvl="0" marL="457200" rtl="0" algn="l">
              <a:spcBef>
                <a:spcPts val="0"/>
              </a:spcBef>
              <a:spcAft>
                <a:spcPts val="0"/>
              </a:spcAft>
              <a:buSzPts val="1800"/>
              <a:buChar char="●"/>
            </a:pPr>
            <a:r>
              <a:rPr lang="es-419"/>
              <a:t>Puerto de alimentación</a:t>
            </a:r>
            <a:endParaRPr/>
          </a:p>
          <a:p>
            <a:pPr indent="-342900" lvl="0" marL="457200" rtl="0" algn="l">
              <a:spcBef>
                <a:spcPts val="0"/>
              </a:spcBef>
              <a:spcAft>
                <a:spcPts val="0"/>
              </a:spcAft>
              <a:buSzPts val="1800"/>
              <a:buChar char="●"/>
            </a:pPr>
            <a:r>
              <a:rPr lang="es-419"/>
              <a:t>Botones de mantenimiento</a:t>
            </a:r>
            <a:endParaRPr/>
          </a:p>
          <a:p>
            <a:pPr indent="-342900" lvl="0" marL="457200" rtl="0" algn="l">
              <a:spcBef>
                <a:spcPts val="0"/>
              </a:spcBef>
              <a:spcAft>
                <a:spcPts val="0"/>
              </a:spcAft>
              <a:buSzPts val="1800"/>
              <a:buChar char="●"/>
            </a:pPr>
            <a:r>
              <a:rPr lang="es-419"/>
              <a:t>Indicadores LED</a:t>
            </a:r>
            <a:endParaRPr/>
          </a:p>
          <a:p>
            <a:pPr indent="-342900" lvl="0" marL="457200" rtl="0" algn="l">
              <a:spcBef>
                <a:spcPts val="0"/>
              </a:spcBef>
              <a:spcAft>
                <a:spcPts val="0"/>
              </a:spcAft>
              <a:buSzPts val="1800"/>
              <a:buChar char="●"/>
            </a:pPr>
            <a:r>
              <a:rPr lang="es-419"/>
              <a:t>Antenas (si es inalambrico)</a:t>
            </a:r>
            <a:endParaRPr/>
          </a:p>
          <a:p>
            <a:pPr indent="-342900" lvl="0" marL="457200" rtl="0" algn="l">
              <a:spcBef>
                <a:spcPts val="0"/>
              </a:spcBef>
              <a:spcAft>
                <a:spcPts val="0"/>
              </a:spcAft>
              <a:buSzPts val="1800"/>
              <a:buChar char="●"/>
            </a:pPr>
            <a:r>
              <a:rPr lang="es-419"/>
              <a:t>Módulos</a:t>
            </a:r>
            <a:r>
              <a:rPr lang="es-419"/>
              <a:t> de expansión</a:t>
            </a:r>
            <a:endParaRPr/>
          </a:p>
        </p:txBody>
      </p:sp>
      <p:pic>
        <p:nvPicPr>
          <p:cNvPr id="74" name="Google Shape;74;p14"/>
          <p:cNvPicPr preferRelativeResize="0"/>
          <p:nvPr/>
        </p:nvPicPr>
        <p:blipFill>
          <a:blip r:embed="rId3">
            <a:alphaModFix/>
          </a:blip>
          <a:stretch>
            <a:fillRect/>
          </a:stretch>
        </p:blipFill>
        <p:spPr>
          <a:xfrm>
            <a:off x="4958000" y="2186875"/>
            <a:ext cx="4060000" cy="146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Interfaz de </a:t>
            </a:r>
            <a:r>
              <a:rPr lang="es-419"/>
              <a:t>línea</a:t>
            </a:r>
            <a:r>
              <a:rPr lang="es-419"/>
              <a:t> de comandos (CLI)</a:t>
            </a:r>
            <a:endParaRPr/>
          </a:p>
        </p:txBody>
      </p:sp>
      <p:sp>
        <p:nvSpPr>
          <p:cNvPr id="80" name="Google Shape;80;p15"/>
          <p:cNvSpPr txBox="1"/>
          <p:nvPr>
            <p:ph idx="1" type="body"/>
          </p:nvPr>
        </p:nvSpPr>
        <p:spPr>
          <a:xfrm>
            <a:off x="311700" y="1266325"/>
            <a:ext cx="38478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La CLI nos ayuda a realizar la configuración de los diferentes dispositivos de una red. Esta funciona por medio de comandos, por lo que sistemas operativos, con solo la interfaz de CLI, son adecuados para este tipo de configuraciones</a:t>
            </a:r>
            <a:endParaRPr/>
          </a:p>
        </p:txBody>
      </p:sp>
      <p:pic>
        <p:nvPicPr>
          <p:cNvPr id="81" name="Google Shape;81;p15"/>
          <p:cNvPicPr preferRelativeResize="0"/>
          <p:nvPr/>
        </p:nvPicPr>
        <p:blipFill>
          <a:blip r:embed="rId3">
            <a:alphaModFix/>
          </a:blip>
          <a:stretch>
            <a:fillRect/>
          </a:stretch>
        </p:blipFill>
        <p:spPr>
          <a:xfrm>
            <a:off x="4871224" y="1152424"/>
            <a:ext cx="3579450" cy="37782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144075"/>
            <a:ext cx="8520600" cy="990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Configuración por medio de CLI</a:t>
            </a:r>
            <a:endParaRPr/>
          </a:p>
          <a:p>
            <a:pPr indent="0" lvl="0" marL="0" rtl="0" algn="l">
              <a:spcBef>
                <a:spcPts val="0"/>
              </a:spcBef>
              <a:spcAft>
                <a:spcPts val="0"/>
              </a:spcAft>
              <a:buNone/>
            </a:pPr>
            <a:r>
              <a:rPr lang="es-419" sz="2933"/>
              <a:t>modos de operación</a:t>
            </a:r>
            <a:endParaRPr sz="2933"/>
          </a:p>
        </p:txBody>
      </p:sp>
      <p:sp>
        <p:nvSpPr>
          <p:cNvPr id="87" name="Google Shape;87;p16"/>
          <p:cNvSpPr txBox="1"/>
          <p:nvPr>
            <p:ph idx="1" type="body"/>
          </p:nvPr>
        </p:nvSpPr>
        <p:spPr>
          <a:xfrm>
            <a:off x="311700" y="133575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Almacenamiento y </a:t>
            </a:r>
            <a:r>
              <a:rPr b="1" lang="es-419"/>
              <a:t>reenvío</a:t>
            </a:r>
            <a:r>
              <a:rPr b="1" lang="es-419"/>
              <a:t> (Store-and-Forward):</a:t>
            </a:r>
            <a:r>
              <a:rPr lang="es-419"/>
              <a:t> recibe la trama de datos completa en su búfer antes de cualquier acción, se examina la MAC de destino y se comprueban errores</a:t>
            </a:r>
            <a:endParaRPr/>
          </a:p>
          <a:p>
            <a:pPr indent="0" lvl="0" marL="0" rtl="0" algn="l">
              <a:spcBef>
                <a:spcPts val="1200"/>
              </a:spcBef>
              <a:spcAft>
                <a:spcPts val="0"/>
              </a:spcAft>
              <a:buNone/>
            </a:pPr>
            <a:r>
              <a:rPr b="1" lang="es-419"/>
              <a:t>Modo corte (Cut-Through): </a:t>
            </a:r>
            <a:r>
              <a:rPr lang="es-419"/>
              <a:t>se comienza con el </a:t>
            </a:r>
            <a:r>
              <a:rPr lang="es-419"/>
              <a:t>reenvío</a:t>
            </a:r>
            <a:r>
              <a:rPr lang="es-419"/>
              <a:t> de la trama tan pronto como se lee la dirección MAC de destino, no se recibe la trama completa ni se verifican errores</a:t>
            </a:r>
            <a:endParaRPr/>
          </a:p>
          <a:p>
            <a:pPr indent="0" lvl="0" marL="0" rtl="0" algn="l">
              <a:spcBef>
                <a:spcPts val="1200"/>
              </a:spcBef>
              <a:spcAft>
                <a:spcPts val="1200"/>
              </a:spcAft>
              <a:buNone/>
            </a:pPr>
            <a:r>
              <a:rPr b="1" lang="es-419"/>
              <a:t>Modo libre de fragmentos (Fragment-Free):</a:t>
            </a:r>
            <a:r>
              <a:rPr lang="es-419"/>
              <a:t> modo </a:t>
            </a:r>
            <a:r>
              <a:rPr lang="es-419"/>
              <a:t>híbrido</a:t>
            </a:r>
            <a:r>
              <a:rPr lang="es-419"/>
              <a:t> que lee los primeros 64 bytes de la trama, que pertenecen a los datos de encabezado y se trata de detectar la </a:t>
            </a:r>
            <a:r>
              <a:rPr lang="es-419"/>
              <a:t>mayoría</a:t>
            </a:r>
            <a:r>
              <a:rPr lang="es-419"/>
              <a:t> de errores.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155647"/>
            <a:ext cx="8520600" cy="101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Configuración por medio de CLI</a:t>
            </a:r>
            <a:endParaRPr/>
          </a:p>
          <a:p>
            <a:pPr indent="0" lvl="0" marL="0" rtl="0" algn="l">
              <a:spcBef>
                <a:spcPts val="0"/>
              </a:spcBef>
              <a:spcAft>
                <a:spcPts val="0"/>
              </a:spcAft>
              <a:buNone/>
            </a:pPr>
            <a:r>
              <a:rPr lang="es-419" sz="2933"/>
              <a:t>modos de configuración</a:t>
            </a:r>
            <a:endParaRPr sz="2933"/>
          </a:p>
        </p:txBody>
      </p:sp>
      <p:graphicFrame>
        <p:nvGraphicFramePr>
          <p:cNvPr id="93" name="Google Shape;93;p17"/>
          <p:cNvGraphicFramePr/>
          <p:nvPr/>
        </p:nvGraphicFramePr>
        <p:xfrm>
          <a:off x="952500" y="1242258"/>
          <a:ext cx="3000000" cy="3000000"/>
        </p:xfrm>
        <a:graphic>
          <a:graphicData uri="http://schemas.openxmlformats.org/drawingml/2006/table">
            <a:tbl>
              <a:tblPr>
                <a:noFill/>
                <a:tableStyleId>{B1824ECD-2358-430B-A8BD-1B33570642A3}</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s-419"/>
                        <a:t>Modo</a:t>
                      </a:r>
                      <a:endParaRPr/>
                    </a:p>
                  </a:txBody>
                  <a:tcPr marT="91425" marB="91425" marR="91425" marL="91425"/>
                </a:tc>
                <a:tc>
                  <a:txBody>
                    <a:bodyPr/>
                    <a:lstStyle/>
                    <a:p>
                      <a:pPr indent="0" lvl="0" marL="0" rtl="0" algn="l">
                        <a:spcBef>
                          <a:spcPts val="0"/>
                        </a:spcBef>
                        <a:spcAft>
                          <a:spcPts val="0"/>
                        </a:spcAft>
                        <a:buNone/>
                      </a:pPr>
                      <a:r>
                        <a:rPr lang="es-419"/>
                        <a:t>Descripción</a:t>
                      </a:r>
                      <a:endParaRPr/>
                    </a:p>
                  </a:txBody>
                  <a:tcPr marT="91425" marB="91425" marR="91425" marL="91425"/>
                </a:tc>
                <a:tc>
                  <a:txBody>
                    <a:bodyPr/>
                    <a:lstStyle/>
                    <a:p>
                      <a:pPr indent="0" lvl="0" marL="0" rtl="0" algn="l">
                        <a:spcBef>
                          <a:spcPts val="0"/>
                        </a:spcBef>
                        <a:spcAft>
                          <a:spcPts val="0"/>
                        </a:spcAft>
                        <a:buNone/>
                      </a:pPr>
                      <a:r>
                        <a:rPr lang="es-419"/>
                        <a:t>Prompt</a:t>
                      </a:r>
                      <a:endParaRPr/>
                    </a:p>
                  </a:txBody>
                  <a:tcPr marT="91425" marB="91425" marR="91425" marL="91425"/>
                </a:tc>
                <a:tc>
                  <a:txBody>
                    <a:bodyPr/>
                    <a:lstStyle/>
                    <a:p>
                      <a:pPr indent="0" lvl="0" marL="0" rtl="0" algn="l">
                        <a:spcBef>
                          <a:spcPts val="0"/>
                        </a:spcBef>
                        <a:spcAft>
                          <a:spcPts val="0"/>
                        </a:spcAft>
                        <a:buNone/>
                      </a:pPr>
                      <a:r>
                        <a:rPr lang="es-419"/>
                        <a:t>Comando entrada</a:t>
                      </a:r>
                      <a:endParaRPr/>
                    </a:p>
                  </a:txBody>
                  <a:tcPr marT="91425" marB="91425" marR="91425" marL="91425"/>
                </a:tc>
                <a:tc>
                  <a:txBody>
                    <a:bodyPr/>
                    <a:lstStyle/>
                    <a:p>
                      <a:pPr indent="0" lvl="0" marL="0" rtl="0" algn="l">
                        <a:spcBef>
                          <a:spcPts val="0"/>
                        </a:spcBef>
                        <a:spcAft>
                          <a:spcPts val="0"/>
                        </a:spcAft>
                        <a:buNone/>
                      </a:pPr>
                      <a:r>
                        <a:rPr lang="es-419"/>
                        <a:t>Comando salida</a:t>
                      </a:r>
                      <a:endParaRPr/>
                    </a:p>
                  </a:txBody>
                  <a:tcPr marT="91425" marB="91425" marR="91425" marL="91425"/>
                </a:tc>
              </a:tr>
              <a:tr h="381000">
                <a:tc>
                  <a:txBody>
                    <a:bodyPr/>
                    <a:lstStyle/>
                    <a:p>
                      <a:pPr indent="0" lvl="0" marL="0" rtl="0" algn="l">
                        <a:spcBef>
                          <a:spcPts val="0"/>
                        </a:spcBef>
                        <a:spcAft>
                          <a:spcPts val="0"/>
                        </a:spcAft>
                        <a:buNone/>
                      </a:pPr>
                      <a:r>
                        <a:rPr lang="es-419"/>
                        <a:t>User EXEC</a:t>
                      </a:r>
                      <a:endParaRPr/>
                    </a:p>
                  </a:txBody>
                  <a:tcPr marT="91425" marB="91425" marR="91425" marL="91425"/>
                </a:tc>
                <a:tc>
                  <a:txBody>
                    <a:bodyPr/>
                    <a:lstStyle/>
                    <a:p>
                      <a:pPr indent="0" lvl="0" marL="0" rtl="0" algn="l">
                        <a:spcBef>
                          <a:spcPts val="0"/>
                        </a:spcBef>
                        <a:spcAft>
                          <a:spcPts val="0"/>
                        </a:spcAft>
                        <a:buNone/>
                      </a:pPr>
                      <a:r>
                        <a:rPr lang="es-419"/>
                        <a:t>acceso basico</a:t>
                      </a:r>
                      <a:endParaRPr/>
                    </a:p>
                  </a:txBody>
                  <a:tcPr marT="91425" marB="91425" marR="91425" marL="91425"/>
                </a:tc>
                <a:tc>
                  <a:txBody>
                    <a:bodyPr/>
                    <a:lstStyle/>
                    <a:p>
                      <a:pPr indent="0" lvl="0" marL="0" rtl="0" algn="l">
                        <a:spcBef>
                          <a:spcPts val="0"/>
                        </a:spcBef>
                        <a:spcAft>
                          <a:spcPts val="0"/>
                        </a:spcAft>
                        <a:buNone/>
                      </a:pPr>
                      <a:r>
                        <a:rPr lang="es-419"/>
                        <a:t>Switch&gt;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r h="381000">
                <a:tc>
                  <a:txBody>
                    <a:bodyPr/>
                    <a:lstStyle/>
                    <a:p>
                      <a:pPr indent="0" lvl="0" marL="0" rtl="0" algn="l">
                        <a:spcBef>
                          <a:spcPts val="0"/>
                        </a:spcBef>
                        <a:spcAft>
                          <a:spcPts val="0"/>
                        </a:spcAft>
                        <a:buNone/>
                      </a:pPr>
                      <a:r>
                        <a:rPr lang="es-419"/>
                        <a:t>Privileged EXEC</a:t>
                      </a:r>
                      <a:endParaRPr/>
                    </a:p>
                  </a:txBody>
                  <a:tcPr marT="91425" marB="91425" marR="91425" marL="91425"/>
                </a:tc>
                <a:tc>
                  <a:txBody>
                    <a:bodyPr/>
                    <a:lstStyle/>
                    <a:p>
                      <a:pPr indent="0" lvl="0" marL="0" rtl="0" algn="l">
                        <a:spcBef>
                          <a:spcPts val="0"/>
                        </a:spcBef>
                        <a:spcAft>
                          <a:spcPts val="0"/>
                        </a:spcAft>
                        <a:buNone/>
                      </a:pPr>
                      <a:r>
                        <a:rPr lang="es-419"/>
                        <a:t>comandos avanzados</a:t>
                      </a:r>
                      <a:endParaRPr/>
                    </a:p>
                  </a:txBody>
                  <a:tcPr marT="91425" marB="91425" marR="91425" marL="91425"/>
                </a:tc>
                <a:tc>
                  <a:txBody>
                    <a:bodyPr/>
                    <a:lstStyle/>
                    <a:p>
                      <a:pPr indent="0" lvl="0" marL="0" rtl="0" algn="l">
                        <a:spcBef>
                          <a:spcPts val="0"/>
                        </a:spcBef>
                        <a:spcAft>
                          <a:spcPts val="0"/>
                        </a:spcAft>
                        <a:buNone/>
                      </a:pPr>
                      <a:r>
                        <a:rPr lang="es-419"/>
                        <a:t>Switch#</a:t>
                      </a:r>
                      <a:endParaRPr/>
                    </a:p>
                  </a:txBody>
                  <a:tcPr marT="91425" marB="91425" marR="91425" marL="91425"/>
                </a:tc>
                <a:tc>
                  <a:txBody>
                    <a:bodyPr/>
                    <a:lstStyle/>
                    <a:p>
                      <a:pPr indent="0" lvl="0" marL="0" rtl="0" algn="l">
                        <a:spcBef>
                          <a:spcPts val="0"/>
                        </a:spcBef>
                        <a:spcAft>
                          <a:spcPts val="0"/>
                        </a:spcAft>
                        <a:buNone/>
                      </a:pPr>
                      <a:r>
                        <a:rPr lang="es-419"/>
                        <a:t>enable</a:t>
                      </a:r>
                      <a:endParaRPr/>
                    </a:p>
                  </a:txBody>
                  <a:tcPr marT="91425" marB="91425" marR="91425" marL="91425"/>
                </a:tc>
                <a:tc>
                  <a:txBody>
                    <a:bodyPr/>
                    <a:lstStyle/>
                    <a:p>
                      <a:pPr indent="0" lvl="0" marL="0" rtl="0" algn="l">
                        <a:spcBef>
                          <a:spcPts val="0"/>
                        </a:spcBef>
                        <a:spcAft>
                          <a:spcPts val="0"/>
                        </a:spcAft>
                        <a:buNone/>
                      </a:pPr>
                      <a:r>
                        <a:rPr lang="es-419"/>
                        <a:t>disable</a:t>
                      </a:r>
                      <a:endParaRPr/>
                    </a:p>
                  </a:txBody>
                  <a:tcPr marT="91425" marB="91425" marR="91425" marL="91425"/>
                </a:tc>
              </a:tr>
              <a:tr h="381000">
                <a:tc>
                  <a:txBody>
                    <a:bodyPr/>
                    <a:lstStyle/>
                    <a:p>
                      <a:pPr indent="0" lvl="0" marL="0" rtl="0" algn="l">
                        <a:spcBef>
                          <a:spcPts val="0"/>
                        </a:spcBef>
                        <a:spcAft>
                          <a:spcPts val="0"/>
                        </a:spcAft>
                        <a:buNone/>
                      </a:pPr>
                      <a:r>
                        <a:rPr lang="es-419"/>
                        <a:t>Global configuration</a:t>
                      </a:r>
                      <a:endParaRPr/>
                    </a:p>
                  </a:txBody>
                  <a:tcPr marT="91425" marB="91425" marR="91425" marL="91425"/>
                </a:tc>
                <a:tc>
                  <a:txBody>
                    <a:bodyPr/>
                    <a:lstStyle/>
                    <a:p>
                      <a:pPr indent="0" lvl="0" marL="0" rtl="0" algn="l">
                        <a:spcBef>
                          <a:spcPts val="0"/>
                        </a:spcBef>
                        <a:spcAft>
                          <a:spcPts val="0"/>
                        </a:spcAft>
                        <a:buNone/>
                      </a:pPr>
                      <a:r>
                        <a:rPr lang="es-419"/>
                        <a:t>Configuración general</a:t>
                      </a:r>
                      <a:endParaRPr/>
                    </a:p>
                  </a:txBody>
                  <a:tcPr marT="91425" marB="91425" marR="91425" marL="91425"/>
                </a:tc>
                <a:tc>
                  <a:txBody>
                    <a:bodyPr/>
                    <a:lstStyle/>
                    <a:p>
                      <a:pPr indent="0" lvl="0" marL="0" rtl="0" algn="l">
                        <a:spcBef>
                          <a:spcPts val="0"/>
                        </a:spcBef>
                        <a:spcAft>
                          <a:spcPts val="0"/>
                        </a:spcAft>
                        <a:buNone/>
                      </a:pPr>
                      <a:r>
                        <a:rPr lang="es-419"/>
                        <a:t>Switch(config)# </a:t>
                      </a:r>
                      <a:endParaRPr/>
                    </a:p>
                  </a:txBody>
                  <a:tcPr marT="91425" marB="91425" marR="91425" marL="91425"/>
                </a:tc>
                <a:tc>
                  <a:txBody>
                    <a:bodyPr/>
                    <a:lstStyle/>
                    <a:p>
                      <a:pPr indent="0" lvl="0" marL="0" rtl="0" algn="l">
                        <a:spcBef>
                          <a:spcPts val="0"/>
                        </a:spcBef>
                        <a:spcAft>
                          <a:spcPts val="0"/>
                        </a:spcAft>
                        <a:buNone/>
                      </a:pPr>
                      <a:r>
                        <a:rPr lang="es-419"/>
                        <a:t>configure terminal</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r h="381000">
                <a:tc>
                  <a:txBody>
                    <a:bodyPr/>
                    <a:lstStyle/>
                    <a:p>
                      <a:pPr indent="0" lvl="0" marL="0" rtl="0" algn="l">
                        <a:spcBef>
                          <a:spcPts val="0"/>
                        </a:spcBef>
                        <a:spcAft>
                          <a:spcPts val="0"/>
                        </a:spcAft>
                        <a:buNone/>
                      </a:pPr>
                      <a:r>
                        <a:rPr lang="es-419"/>
                        <a:t>Interface configuration</a:t>
                      </a:r>
                      <a:endParaRPr/>
                    </a:p>
                  </a:txBody>
                  <a:tcPr marT="91425" marB="91425" marR="91425" marL="91425"/>
                </a:tc>
                <a:tc>
                  <a:txBody>
                    <a:bodyPr/>
                    <a:lstStyle/>
                    <a:p>
                      <a:pPr indent="0" lvl="0" marL="0" rtl="0" algn="l">
                        <a:spcBef>
                          <a:spcPts val="0"/>
                        </a:spcBef>
                        <a:spcAft>
                          <a:spcPts val="0"/>
                        </a:spcAft>
                        <a:buNone/>
                      </a:pPr>
                      <a:r>
                        <a:rPr lang="es-419"/>
                        <a:t>Configuración de interfaces</a:t>
                      </a:r>
                      <a:endParaRPr/>
                    </a:p>
                  </a:txBody>
                  <a:tcPr marT="91425" marB="91425" marR="91425" marL="91425"/>
                </a:tc>
                <a:tc>
                  <a:txBody>
                    <a:bodyPr/>
                    <a:lstStyle/>
                    <a:p>
                      <a:pPr indent="0" lvl="0" marL="0" rtl="0" algn="l">
                        <a:spcBef>
                          <a:spcPts val="0"/>
                        </a:spcBef>
                        <a:spcAft>
                          <a:spcPts val="0"/>
                        </a:spcAft>
                        <a:buNone/>
                      </a:pPr>
                      <a:r>
                        <a:rPr lang="es-419"/>
                        <a:t>Switch(config-if)#</a:t>
                      </a:r>
                      <a:endParaRPr/>
                    </a:p>
                  </a:txBody>
                  <a:tcPr marT="91425" marB="91425" marR="91425" marL="91425"/>
                </a:tc>
                <a:tc>
                  <a:txBody>
                    <a:bodyPr/>
                    <a:lstStyle/>
                    <a:p>
                      <a:pPr indent="0" lvl="0" marL="0" rtl="0" algn="l">
                        <a:spcBef>
                          <a:spcPts val="0"/>
                        </a:spcBef>
                        <a:spcAft>
                          <a:spcPts val="0"/>
                        </a:spcAft>
                        <a:buNone/>
                      </a:pPr>
                      <a:r>
                        <a:rPr lang="es-419"/>
                        <a:t>interface name</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r h="381000">
                <a:tc>
                  <a:txBody>
                    <a:bodyPr/>
                    <a:lstStyle/>
                    <a:p>
                      <a:pPr indent="0" lvl="0" marL="0" rtl="0" algn="l">
                        <a:spcBef>
                          <a:spcPts val="0"/>
                        </a:spcBef>
                        <a:spcAft>
                          <a:spcPts val="0"/>
                        </a:spcAft>
                        <a:buNone/>
                      </a:pPr>
                      <a:r>
                        <a:rPr lang="es-419"/>
                        <a:t>Line configuration</a:t>
                      </a:r>
                      <a:endParaRPr/>
                    </a:p>
                  </a:txBody>
                  <a:tcPr marT="91425" marB="91425" marR="91425" marL="91425"/>
                </a:tc>
                <a:tc>
                  <a:txBody>
                    <a:bodyPr/>
                    <a:lstStyle/>
                    <a:p>
                      <a:pPr indent="0" lvl="0" marL="0" rtl="0" algn="l">
                        <a:spcBef>
                          <a:spcPts val="0"/>
                        </a:spcBef>
                        <a:spcAft>
                          <a:spcPts val="0"/>
                        </a:spcAft>
                        <a:buNone/>
                      </a:pPr>
                      <a:r>
                        <a:rPr lang="es-419"/>
                        <a:t>Configuración por consola o remoto</a:t>
                      </a:r>
                      <a:endParaRPr/>
                    </a:p>
                  </a:txBody>
                  <a:tcPr marT="91425" marB="91425" marR="91425" marL="91425"/>
                </a:tc>
                <a:tc>
                  <a:txBody>
                    <a:bodyPr/>
                    <a:lstStyle/>
                    <a:p>
                      <a:pPr indent="0" lvl="0" marL="0" rtl="0" algn="l">
                        <a:spcBef>
                          <a:spcPts val="0"/>
                        </a:spcBef>
                        <a:spcAft>
                          <a:spcPts val="0"/>
                        </a:spcAft>
                        <a:buNone/>
                      </a:pPr>
                      <a:r>
                        <a:rPr lang="es-419"/>
                        <a:t>Switch(config-line)#</a:t>
                      </a:r>
                      <a:endParaRPr/>
                    </a:p>
                  </a:txBody>
                  <a:tcPr marT="91425" marB="91425" marR="91425" marL="91425"/>
                </a:tc>
                <a:tc>
                  <a:txBody>
                    <a:bodyPr/>
                    <a:lstStyle/>
                    <a:p>
                      <a:pPr indent="0" lvl="0" marL="0" rtl="0" algn="l">
                        <a:spcBef>
                          <a:spcPts val="0"/>
                        </a:spcBef>
                        <a:spcAft>
                          <a:spcPts val="0"/>
                        </a:spcAft>
                        <a:buNone/>
                      </a:pPr>
                      <a:r>
                        <a:rPr lang="es-419"/>
                        <a:t>line console</a:t>
                      </a:r>
                      <a:endParaRPr/>
                    </a:p>
                    <a:p>
                      <a:pPr indent="0" lvl="0" marL="0" rtl="0" algn="l">
                        <a:spcBef>
                          <a:spcPts val="0"/>
                        </a:spcBef>
                        <a:spcAft>
                          <a:spcPts val="0"/>
                        </a:spcAft>
                        <a:buNone/>
                      </a:pPr>
                      <a:r>
                        <a:rPr lang="es-419"/>
                        <a:t>line vty 0 4</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155647"/>
            <a:ext cx="8520600" cy="101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Configuración por medio de CLI</a:t>
            </a:r>
            <a:endParaRPr/>
          </a:p>
          <a:p>
            <a:pPr indent="0" lvl="0" marL="0" rtl="0" algn="l">
              <a:spcBef>
                <a:spcPts val="0"/>
              </a:spcBef>
              <a:spcAft>
                <a:spcPts val="0"/>
              </a:spcAft>
              <a:buNone/>
            </a:pPr>
            <a:r>
              <a:rPr lang="es-419" sz="2933"/>
              <a:t>modos de configuración</a:t>
            </a:r>
            <a:endParaRPr sz="2933"/>
          </a:p>
        </p:txBody>
      </p:sp>
      <p:graphicFrame>
        <p:nvGraphicFramePr>
          <p:cNvPr id="99" name="Google Shape;99;p18"/>
          <p:cNvGraphicFramePr/>
          <p:nvPr/>
        </p:nvGraphicFramePr>
        <p:xfrm>
          <a:off x="952500" y="1242258"/>
          <a:ext cx="3000000" cy="3000000"/>
        </p:xfrm>
        <a:graphic>
          <a:graphicData uri="http://schemas.openxmlformats.org/drawingml/2006/table">
            <a:tbl>
              <a:tblPr>
                <a:noFill/>
                <a:tableStyleId>{B1824ECD-2358-430B-A8BD-1B33570642A3}</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s-419"/>
                        <a:t>Modo</a:t>
                      </a:r>
                      <a:endParaRPr/>
                    </a:p>
                  </a:txBody>
                  <a:tcPr marT="91425" marB="91425" marR="91425" marL="91425"/>
                </a:tc>
                <a:tc>
                  <a:txBody>
                    <a:bodyPr/>
                    <a:lstStyle/>
                    <a:p>
                      <a:pPr indent="0" lvl="0" marL="0" rtl="0" algn="l">
                        <a:spcBef>
                          <a:spcPts val="0"/>
                        </a:spcBef>
                        <a:spcAft>
                          <a:spcPts val="0"/>
                        </a:spcAft>
                        <a:buNone/>
                      </a:pPr>
                      <a:r>
                        <a:rPr lang="es-419"/>
                        <a:t>Descripción</a:t>
                      </a:r>
                      <a:endParaRPr/>
                    </a:p>
                  </a:txBody>
                  <a:tcPr marT="91425" marB="91425" marR="91425" marL="91425"/>
                </a:tc>
                <a:tc>
                  <a:txBody>
                    <a:bodyPr/>
                    <a:lstStyle/>
                    <a:p>
                      <a:pPr indent="0" lvl="0" marL="0" rtl="0" algn="l">
                        <a:spcBef>
                          <a:spcPts val="0"/>
                        </a:spcBef>
                        <a:spcAft>
                          <a:spcPts val="0"/>
                        </a:spcAft>
                        <a:buNone/>
                      </a:pPr>
                      <a:r>
                        <a:rPr lang="es-419"/>
                        <a:t>Prompt</a:t>
                      </a:r>
                      <a:endParaRPr/>
                    </a:p>
                  </a:txBody>
                  <a:tcPr marT="91425" marB="91425" marR="91425" marL="91425"/>
                </a:tc>
                <a:tc>
                  <a:txBody>
                    <a:bodyPr/>
                    <a:lstStyle/>
                    <a:p>
                      <a:pPr indent="0" lvl="0" marL="0" rtl="0" algn="l">
                        <a:spcBef>
                          <a:spcPts val="0"/>
                        </a:spcBef>
                        <a:spcAft>
                          <a:spcPts val="0"/>
                        </a:spcAft>
                        <a:buNone/>
                      </a:pPr>
                      <a:r>
                        <a:rPr lang="es-419"/>
                        <a:t>Comando entrada</a:t>
                      </a:r>
                      <a:endParaRPr/>
                    </a:p>
                  </a:txBody>
                  <a:tcPr marT="91425" marB="91425" marR="91425" marL="91425"/>
                </a:tc>
                <a:tc>
                  <a:txBody>
                    <a:bodyPr/>
                    <a:lstStyle/>
                    <a:p>
                      <a:pPr indent="0" lvl="0" marL="0" rtl="0" algn="l">
                        <a:spcBef>
                          <a:spcPts val="0"/>
                        </a:spcBef>
                        <a:spcAft>
                          <a:spcPts val="0"/>
                        </a:spcAft>
                        <a:buNone/>
                      </a:pPr>
                      <a:r>
                        <a:rPr lang="es-419"/>
                        <a:t>Comando salida</a:t>
                      </a:r>
                      <a:endParaRPr/>
                    </a:p>
                  </a:txBody>
                  <a:tcPr marT="91425" marB="91425" marR="91425" marL="91425"/>
                </a:tc>
              </a:tr>
              <a:tr h="381000">
                <a:tc>
                  <a:txBody>
                    <a:bodyPr/>
                    <a:lstStyle/>
                    <a:p>
                      <a:pPr indent="0" lvl="0" marL="0" rtl="0" algn="l">
                        <a:spcBef>
                          <a:spcPts val="0"/>
                        </a:spcBef>
                        <a:spcAft>
                          <a:spcPts val="0"/>
                        </a:spcAft>
                        <a:buNone/>
                      </a:pPr>
                      <a:r>
                        <a:rPr lang="es-419"/>
                        <a:t>User EXEC</a:t>
                      </a:r>
                      <a:endParaRPr/>
                    </a:p>
                  </a:txBody>
                  <a:tcPr marT="91425" marB="91425" marR="91425" marL="91425"/>
                </a:tc>
                <a:tc>
                  <a:txBody>
                    <a:bodyPr/>
                    <a:lstStyle/>
                    <a:p>
                      <a:pPr indent="0" lvl="0" marL="0" rtl="0" algn="l">
                        <a:spcBef>
                          <a:spcPts val="0"/>
                        </a:spcBef>
                        <a:spcAft>
                          <a:spcPts val="0"/>
                        </a:spcAft>
                        <a:buNone/>
                      </a:pPr>
                      <a:r>
                        <a:rPr lang="es-419"/>
                        <a:t>acceso basico</a:t>
                      </a:r>
                      <a:endParaRPr/>
                    </a:p>
                  </a:txBody>
                  <a:tcPr marT="91425" marB="91425" marR="91425" marL="91425"/>
                </a:tc>
                <a:tc>
                  <a:txBody>
                    <a:bodyPr/>
                    <a:lstStyle/>
                    <a:p>
                      <a:pPr indent="0" lvl="0" marL="0" rtl="0" algn="l">
                        <a:spcBef>
                          <a:spcPts val="0"/>
                        </a:spcBef>
                        <a:spcAft>
                          <a:spcPts val="0"/>
                        </a:spcAft>
                        <a:buNone/>
                      </a:pPr>
                      <a:r>
                        <a:rPr lang="es-419"/>
                        <a:t>Switch&gt;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r h="381000">
                <a:tc>
                  <a:txBody>
                    <a:bodyPr/>
                    <a:lstStyle/>
                    <a:p>
                      <a:pPr indent="0" lvl="0" marL="0" rtl="0" algn="l">
                        <a:spcBef>
                          <a:spcPts val="0"/>
                        </a:spcBef>
                        <a:spcAft>
                          <a:spcPts val="0"/>
                        </a:spcAft>
                        <a:buNone/>
                      </a:pPr>
                      <a:r>
                        <a:rPr lang="es-419"/>
                        <a:t>Privileged EXEC</a:t>
                      </a:r>
                      <a:endParaRPr/>
                    </a:p>
                  </a:txBody>
                  <a:tcPr marT="91425" marB="91425" marR="91425" marL="91425"/>
                </a:tc>
                <a:tc>
                  <a:txBody>
                    <a:bodyPr/>
                    <a:lstStyle/>
                    <a:p>
                      <a:pPr indent="0" lvl="0" marL="0" rtl="0" algn="l">
                        <a:spcBef>
                          <a:spcPts val="0"/>
                        </a:spcBef>
                        <a:spcAft>
                          <a:spcPts val="0"/>
                        </a:spcAft>
                        <a:buNone/>
                      </a:pPr>
                      <a:r>
                        <a:rPr lang="es-419"/>
                        <a:t>comandos avanzados</a:t>
                      </a:r>
                      <a:endParaRPr/>
                    </a:p>
                  </a:txBody>
                  <a:tcPr marT="91425" marB="91425" marR="91425" marL="91425"/>
                </a:tc>
                <a:tc>
                  <a:txBody>
                    <a:bodyPr/>
                    <a:lstStyle/>
                    <a:p>
                      <a:pPr indent="0" lvl="0" marL="0" rtl="0" algn="l">
                        <a:spcBef>
                          <a:spcPts val="0"/>
                        </a:spcBef>
                        <a:spcAft>
                          <a:spcPts val="0"/>
                        </a:spcAft>
                        <a:buNone/>
                      </a:pPr>
                      <a:r>
                        <a:rPr lang="es-419"/>
                        <a:t>Switch#</a:t>
                      </a:r>
                      <a:endParaRPr/>
                    </a:p>
                  </a:txBody>
                  <a:tcPr marT="91425" marB="91425" marR="91425" marL="91425"/>
                </a:tc>
                <a:tc>
                  <a:txBody>
                    <a:bodyPr/>
                    <a:lstStyle/>
                    <a:p>
                      <a:pPr indent="0" lvl="0" marL="0" rtl="0" algn="l">
                        <a:spcBef>
                          <a:spcPts val="0"/>
                        </a:spcBef>
                        <a:spcAft>
                          <a:spcPts val="0"/>
                        </a:spcAft>
                        <a:buNone/>
                      </a:pPr>
                      <a:r>
                        <a:rPr lang="es-419"/>
                        <a:t>enable</a:t>
                      </a:r>
                      <a:endParaRPr/>
                    </a:p>
                  </a:txBody>
                  <a:tcPr marT="91425" marB="91425" marR="91425" marL="91425"/>
                </a:tc>
                <a:tc>
                  <a:txBody>
                    <a:bodyPr/>
                    <a:lstStyle/>
                    <a:p>
                      <a:pPr indent="0" lvl="0" marL="0" rtl="0" algn="l">
                        <a:spcBef>
                          <a:spcPts val="0"/>
                        </a:spcBef>
                        <a:spcAft>
                          <a:spcPts val="0"/>
                        </a:spcAft>
                        <a:buNone/>
                      </a:pPr>
                      <a:r>
                        <a:rPr lang="es-419"/>
                        <a:t>disable</a:t>
                      </a:r>
                      <a:endParaRPr/>
                    </a:p>
                  </a:txBody>
                  <a:tcPr marT="91425" marB="91425" marR="91425" marL="91425"/>
                </a:tc>
              </a:tr>
              <a:tr h="381000">
                <a:tc>
                  <a:txBody>
                    <a:bodyPr/>
                    <a:lstStyle/>
                    <a:p>
                      <a:pPr indent="0" lvl="0" marL="0" rtl="0" algn="l">
                        <a:spcBef>
                          <a:spcPts val="0"/>
                        </a:spcBef>
                        <a:spcAft>
                          <a:spcPts val="0"/>
                        </a:spcAft>
                        <a:buNone/>
                      </a:pPr>
                      <a:r>
                        <a:rPr lang="es-419"/>
                        <a:t>Global configuration</a:t>
                      </a:r>
                      <a:endParaRPr/>
                    </a:p>
                  </a:txBody>
                  <a:tcPr marT="91425" marB="91425" marR="91425" marL="91425"/>
                </a:tc>
                <a:tc>
                  <a:txBody>
                    <a:bodyPr/>
                    <a:lstStyle/>
                    <a:p>
                      <a:pPr indent="0" lvl="0" marL="0" rtl="0" algn="l">
                        <a:spcBef>
                          <a:spcPts val="0"/>
                        </a:spcBef>
                        <a:spcAft>
                          <a:spcPts val="0"/>
                        </a:spcAft>
                        <a:buNone/>
                      </a:pPr>
                      <a:r>
                        <a:rPr lang="es-419"/>
                        <a:t>Configuración general</a:t>
                      </a:r>
                      <a:endParaRPr/>
                    </a:p>
                  </a:txBody>
                  <a:tcPr marT="91425" marB="91425" marR="91425" marL="91425"/>
                </a:tc>
                <a:tc>
                  <a:txBody>
                    <a:bodyPr/>
                    <a:lstStyle/>
                    <a:p>
                      <a:pPr indent="0" lvl="0" marL="0" rtl="0" algn="l">
                        <a:spcBef>
                          <a:spcPts val="0"/>
                        </a:spcBef>
                        <a:spcAft>
                          <a:spcPts val="0"/>
                        </a:spcAft>
                        <a:buNone/>
                      </a:pPr>
                      <a:r>
                        <a:rPr lang="es-419"/>
                        <a:t>Switch(config)# </a:t>
                      </a:r>
                      <a:endParaRPr/>
                    </a:p>
                  </a:txBody>
                  <a:tcPr marT="91425" marB="91425" marR="91425" marL="91425"/>
                </a:tc>
                <a:tc>
                  <a:txBody>
                    <a:bodyPr/>
                    <a:lstStyle/>
                    <a:p>
                      <a:pPr indent="0" lvl="0" marL="0" rtl="0" algn="l">
                        <a:spcBef>
                          <a:spcPts val="0"/>
                        </a:spcBef>
                        <a:spcAft>
                          <a:spcPts val="0"/>
                        </a:spcAft>
                        <a:buNone/>
                      </a:pPr>
                      <a:r>
                        <a:rPr lang="es-419"/>
                        <a:t>configure terminal</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r h="381000">
                <a:tc>
                  <a:txBody>
                    <a:bodyPr/>
                    <a:lstStyle/>
                    <a:p>
                      <a:pPr indent="0" lvl="0" marL="0" rtl="0" algn="l">
                        <a:spcBef>
                          <a:spcPts val="0"/>
                        </a:spcBef>
                        <a:spcAft>
                          <a:spcPts val="0"/>
                        </a:spcAft>
                        <a:buNone/>
                      </a:pPr>
                      <a:r>
                        <a:rPr lang="es-419"/>
                        <a:t>Interface configuration</a:t>
                      </a:r>
                      <a:endParaRPr/>
                    </a:p>
                  </a:txBody>
                  <a:tcPr marT="91425" marB="91425" marR="91425" marL="91425"/>
                </a:tc>
                <a:tc>
                  <a:txBody>
                    <a:bodyPr/>
                    <a:lstStyle/>
                    <a:p>
                      <a:pPr indent="0" lvl="0" marL="0" rtl="0" algn="l">
                        <a:spcBef>
                          <a:spcPts val="0"/>
                        </a:spcBef>
                        <a:spcAft>
                          <a:spcPts val="0"/>
                        </a:spcAft>
                        <a:buNone/>
                      </a:pPr>
                      <a:r>
                        <a:rPr lang="es-419"/>
                        <a:t>Configuración de interfaces</a:t>
                      </a:r>
                      <a:endParaRPr/>
                    </a:p>
                  </a:txBody>
                  <a:tcPr marT="91425" marB="91425" marR="91425" marL="91425"/>
                </a:tc>
                <a:tc>
                  <a:txBody>
                    <a:bodyPr/>
                    <a:lstStyle/>
                    <a:p>
                      <a:pPr indent="0" lvl="0" marL="0" rtl="0" algn="l">
                        <a:spcBef>
                          <a:spcPts val="0"/>
                        </a:spcBef>
                        <a:spcAft>
                          <a:spcPts val="0"/>
                        </a:spcAft>
                        <a:buNone/>
                      </a:pPr>
                      <a:r>
                        <a:rPr lang="es-419"/>
                        <a:t>Switch(config-if)#</a:t>
                      </a:r>
                      <a:endParaRPr/>
                    </a:p>
                  </a:txBody>
                  <a:tcPr marT="91425" marB="91425" marR="91425" marL="91425"/>
                </a:tc>
                <a:tc>
                  <a:txBody>
                    <a:bodyPr/>
                    <a:lstStyle/>
                    <a:p>
                      <a:pPr indent="0" lvl="0" marL="0" rtl="0" algn="l">
                        <a:spcBef>
                          <a:spcPts val="0"/>
                        </a:spcBef>
                        <a:spcAft>
                          <a:spcPts val="0"/>
                        </a:spcAft>
                        <a:buNone/>
                      </a:pPr>
                      <a:r>
                        <a:rPr lang="es-419"/>
                        <a:t>interface name</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r h="381000">
                <a:tc>
                  <a:txBody>
                    <a:bodyPr/>
                    <a:lstStyle/>
                    <a:p>
                      <a:pPr indent="0" lvl="0" marL="0" rtl="0" algn="l">
                        <a:spcBef>
                          <a:spcPts val="0"/>
                        </a:spcBef>
                        <a:spcAft>
                          <a:spcPts val="0"/>
                        </a:spcAft>
                        <a:buNone/>
                      </a:pPr>
                      <a:r>
                        <a:rPr lang="es-419"/>
                        <a:t>Line configuration</a:t>
                      </a:r>
                      <a:endParaRPr/>
                    </a:p>
                  </a:txBody>
                  <a:tcPr marT="91425" marB="91425" marR="91425" marL="91425"/>
                </a:tc>
                <a:tc>
                  <a:txBody>
                    <a:bodyPr/>
                    <a:lstStyle/>
                    <a:p>
                      <a:pPr indent="0" lvl="0" marL="0" rtl="0" algn="l">
                        <a:spcBef>
                          <a:spcPts val="0"/>
                        </a:spcBef>
                        <a:spcAft>
                          <a:spcPts val="0"/>
                        </a:spcAft>
                        <a:buNone/>
                      </a:pPr>
                      <a:r>
                        <a:rPr lang="es-419"/>
                        <a:t>Configuración por consola o remoto</a:t>
                      </a:r>
                      <a:endParaRPr/>
                    </a:p>
                  </a:txBody>
                  <a:tcPr marT="91425" marB="91425" marR="91425" marL="91425"/>
                </a:tc>
                <a:tc>
                  <a:txBody>
                    <a:bodyPr/>
                    <a:lstStyle/>
                    <a:p>
                      <a:pPr indent="0" lvl="0" marL="0" rtl="0" algn="l">
                        <a:spcBef>
                          <a:spcPts val="0"/>
                        </a:spcBef>
                        <a:spcAft>
                          <a:spcPts val="0"/>
                        </a:spcAft>
                        <a:buNone/>
                      </a:pPr>
                      <a:r>
                        <a:rPr lang="es-419"/>
                        <a:t>Switch(config-line)#</a:t>
                      </a:r>
                      <a:endParaRPr/>
                    </a:p>
                  </a:txBody>
                  <a:tcPr marT="91425" marB="91425" marR="91425" marL="91425"/>
                </a:tc>
                <a:tc>
                  <a:txBody>
                    <a:bodyPr/>
                    <a:lstStyle/>
                    <a:p>
                      <a:pPr indent="0" lvl="0" marL="0" rtl="0" algn="l">
                        <a:spcBef>
                          <a:spcPts val="0"/>
                        </a:spcBef>
                        <a:spcAft>
                          <a:spcPts val="0"/>
                        </a:spcAft>
                        <a:buNone/>
                      </a:pPr>
                      <a:r>
                        <a:rPr lang="es-419"/>
                        <a:t>line console</a:t>
                      </a:r>
                      <a:endParaRPr/>
                    </a:p>
                    <a:p>
                      <a:pPr indent="0" lvl="0" marL="0" rtl="0" algn="l">
                        <a:spcBef>
                          <a:spcPts val="0"/>
                        </a:spcBef>
                        <a:spcAft>
                          <a:spcPts val="0"/>
                        </a:spcAft>
                        <a:buNone/>
                      </a:pPr>
                      <a:r>
                        <a:rPr lang="es-419"/>
                        <a:t>line vty 0 4</a:t>
                      </a:r>
                      <a:endParaRPr/>
                    </a:p>
                  </a:txBody>
                  <a:tcPr marT="91425" marB="91425" marR="91425" marL="91425"/>
                </a:tc>
                <a:tc>
                  <a:txBody>
                    <a:bodyPr/>
                    <a:lstStyle/>
                    <a:p>
                      <a:pPr indent="0" lvl="0" marL="0" rtl="0" algn="l">
                        <a:spcBef>
                          <a:spcPts val="0"/>
                        </a:spcBef>
                        <a:spcAft>
                          <a:spcPts val="0"/>
                        </a:spcAft>
                        <a:buNone/>
                      </a:pPr>
                      <a:r>
                        <a:rPr lang="es-419"/>
                        <a:t>exit</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155647"/>
            <a:ext cx="8520600" cy="101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Configuración por medio de CLI</a:t>
            </a:r>
            <a:endParaRPr/>
          </a:p>
          <a:p>
            <a:pPr indent="0" lvl="0" marL="0" rtl="0" algn="l">
              <a:spcBef>
                <a:spcPts val="0"/>
              </a:spcBef>
              <a:spcAft>
                <a:spcPts val="0"/>
              </a:spcAft>
              <a:buNone/>
            </a:pPr>
            <a:r>
              <a:rPr lang="es-419" sz="2933"/>
              <a:t>seguridad básica de acceso CLI</a:t>
            </a:r>
            <a:endParaRPr sz="2933"/>
          </a:p>
        </p:txBody>
      </p:sp>
      <p:graphicFrame>
        <p:nvGraphicFramePr>
          <p:cNvPr id="105" name="Google Shape;105;p19"/>
          <p:cNvGraphicFramePr/>
          <p:nvPr/>
        </p:nvGraphicFramePr>
        <p:xfrm>
          <a:off x="594650" y="1358008"/>
          <a:ext cx="3000000" cy="3000000"/>
        </p:xfrm>
        <a:graphic>
          <a:graphicData uri="http://schemas.openxmlformats.org/drawingml/2006/table">
            <a:tbl>
              <a:tblPr>
                <a:noFill/>
                <a:tableStyleId>{B1824ECD-2358-430B-A8BD-1B33570642A3}</a:tableStyleId>
              </a:tblPr>
              <a:tblGrid>
                <a:gridCol w="2385600"/>
                <a:gridCol w="3327575"/>
                <a:gridCol w="2253125"/>
              </a:tblGrid>
              <a:tr h="381000">
                <a:tc>
                  <a:txBody>
                    <a:bodyPr/>
                    <a:lstStyle/>
                    <a:p>
                      <a:pPr indent="0" lvl="0" marL="0" rtl="0" algn="l">
                        <a:spcBef>
                          <a:spcPts val="0"/>
                        </a:spcBef>
                        <a:spcAft>
                          <a:spcPts val="0"/>
                        </a:spcAft>
                        <a:buNone/>
                      </a:pPr>
                      <a:r>
                        <a:rPr lang="es-419"/>
                        <a:t>Nivel</a:t>
                      </a:r>
                      <a:endParaRPr/>
                    </a:p>
                  </a:txBody>
                  <a:tcPr marT="91425" marB="91425" marR="91425" marL="91425"/>
                </a:tc>
                <a:tc>
                  <a:txBody>
                    <a:bodyPr/>
                    <a:lstStyle/>
                    <a:p>
                      <a:pPr indent="0" lvl="0" marL="0" rtl="0" algn="l">
                        <a:spcBef>
                          <a:spcPts val="0"/>
                        </a:spcBef>
                        <a:spcAft>
                          <a:spcPts val="0"/>
                        </a:spcAft>
                        <a:buNone/>
                      </a:pPr>
                      <a:r>
                        <a:rPr lang="es-419"/>
                        <a:t>Descripción</a:t>
                      </a:r>
                      <a:endParaRPr/>
                    </a:p>
                  </a:txBody>
                  <a:tcPr marT="91425" marB="91425" marR="91425" marL="91425"/>
                </a:tc>
                <a:tc>
                  <a:txBody>
                    <a:bodyPr/>
                    <a:lstStyle/>
                    <a:p>
                      <a:pPr indent="0" lvl="0" marL="0" rtl="0" algn="l">
                        <a:spcBef>
                          <a:spcPts val="0"/>
                        </a:spcBef>
                        <a:spcAft>
                          <a:spcPts val="0"/>
                        </a:spcAft>
                        <a:buNone/>
                      </a:pPr>
                      <a:r>
                        <a:rPr lang="es-419"/>
                        <a:t>Prompt</a:t>
                      </a:r>
                      <a:endParaRPr/>
                    </a:p>
                  </a:txBody>
                  <a:tcPr marT="91425" marB="91425" marR="91425" marL="91425"/>
                </a:tc>
              </a:tr>
              <a:tr h="381000">
                <a:tc>
                  <a:txBody>
                    <a:bodyPr/>
                    <a:lstStyle/>
                    <a:p>
                      <a:pPr indent="0" lvl="0" marL="0" rtl="0" algn="l">
                        <a:spcBef>
                          <a:spcPts val="0"/>
                        </a:spcBef>
                        <a:spcAft>
                          <a:spcPts val="0"/>
                        </a:spcAft>
                        <a:buNone/>
                      </a:pPr>
                      <a:r>
                        <a:rPr lang="es-419"/>
                        <a:t>Modo privilegiado</a:t>
                      </a:r>
                      <a:endParaRPr/>
                    </a:p>
                  </a:txBody>
                  <a:tcPr marT="91425" marB="91425" marR="91425" marL="91425"/>
                </a:tc>
                <a:tc>
                  <a:txBody>
                    <a:bodyPr/>
                    <a:lstStyle/>
                    <a:p>
                      <a:pPr indent="0" lvl="0" marL="0" rtl="0" algn="l">
                        <a:spcBef>
                          <a:spcPts val="0"/>
                        </a:spcBef>
                        <a:spcAft>
                          <a:spcPts val="0"/>
                        </a:spcAft>
                        <a:buNone/>
                      </a:pPr>
                      <a:r>
                        <a:rPr lang="es-419"/>
                        <a:t>contraseña para el modo avanzado</a:t>
                      </a:r>
                      <a:endParaRPr/>
                    </a:p>
                  </a:txBody>
                  <a:tcPr marT="91425" marB="91425" marR="91425" marL="91425"/>
                </a:tc>
                <a:tc>
                  <a:txBody>
                    <a:bodyPr/>
                    <a:lstStyle/>
                    <a:p>
                      <a:pPr indent="0" lvl="0" marL="0" rtl="0" algn="l">
                        <a:spcBef>
                          <a:spcPts val="0"/>
                        </a:spcBef>
                        <a:spcAft>
                          <a:spcPts val="0"/>
                        </a:spcAft>
                        <a:buNone/>
                      </a:pPr>
                      <a:r>
                        <a:rPr lang="es-419"/>
                        <a:t>enable secret {password}</a:t>
                      </a:r>
                      <a:endParaRPr/>
                    </a:p>
                  </a:txBody>
                  <a:tcPr marT="91425" marB="91425" marR="91425" marL="91425"/>
                </a:tc>
              </a:tr>
              <a:tr h="381000">
                <a:tc>
                  <a:txBody>
                    <a:bodyPr/>
                    <a:lstStyle/>
                    <a:p>
                      <a:pPr indent="0" lvl="0" marL="0" rtl="0" algn="l">
                        <a:spcBef>
                          <a:spcPts val="0"/>
                        </a:spcBef>
                        <a:spcAft>
                          <a:spcPts val="0"/>
                        </a:spcAft>
                        <a:buNone/>
                      </a:pPr>
                      <a:r>
                        <a:rPr lang="es-419"/>
                        <a:t>Modo consola</a:t>
                      </a:r>
                      <a:endParaRPr/>
                    </a:p>
                  </a:txBody>
                  <a:tcPr marT="91425" marB="91425" marR="91425" marL="91425"/>
                </a:tc>
                <a:tc>
                  <a:txBody>
                    <a:bodyPr/>
                    <a:lstStyle/>
                    <a:p>
                      <a:pPr indent="0" lvl="0" marL="0" rtl="0" algn="l">
                        <a:spcBef>
                          <a:spcPts val="0"/>
                        </a:spcBef>
                        <a:spcAft>
                          <a:spcPts val="0"/>
                        </a:spcAft>
                        <a:buNone/>
                      </a:pPr>
                      <a:r>
                        <a:rPr lang="es-419"/>
                        <a:t>contraseña para el acceso a consola</a:t>
                      </a:r>
                      <a:endParaRPr/>
                    </a:p>
                  </a:txBody>
                  <a:tcPr marT="91425" marB="91425" marR="91425" marL="91425"/>
                </a:tc>
                <a:tc>
                  <a:txBody>
                    <a:bodyPr/>
                    <a:lstStyle/>
                    <a:p>
                      <a:pPr indent="0" lvl="0" marL="0" rtl="0" algn="l">
                        <a:spcBef>
                          <a:spcPts val="0"/>
                        </a:spcBef>
                        <a:spcAft>
                          <a:spcPts val="0"/>
                        </a:spcAft>
                        <a:buNone/>
                      </a:pPr>
                      <a:r>
                        <a:rPr lang="es-419"/>
                        <a:t>password {password}</a:t>
                      </a:r>
                      <a:endParaRPr/>
                    </a:p>
                  </a:txBody>
                  <a:tcPr marT="91425" marB="91425" marR="91425" marL="91425"/>
                </a:tc>
              </a:tr>
              <a:tr h="381000">
                <a:tc>
                  <a:txBody>
                    <a:bodyPr/>
                    <a:lstStyle/>
                    <a:p>
                      <a:pPr indent="0" lvl="0" marL="0" rtl="0" algn="l">
                        <a:spcBef>
                          <a:spcPts val="0"/>
                        </a:spcBef>
                        <a:spcAft>
                          <a:spcPts val="0"/>
                        </a:spcAft>
                        <a:buNone/>
                      </a:pPr>
                      <a:r>
                        <a:rPr lang="es-419"/>
                        <a:t>Modo remoto</a:t>
                      </a:r>
                      <a:endParaRPr/>
                    </a:p>
                  </a:txBody>
                  <a:tcPr marT="91425" marB="91425" marR="91425" marL="91425"/>
                </a:tc>
                <a:tc>
                  <a:txBody>
                    <a:bodyPr/>
                    <a:lstStyle/>
                    <a:p>
                      <a:pPr indent="0" lvl="0" marL="0" rtl="0" algn="l">
                        <a:spcBef>
                          <a:spcPts val="0"/>
                        </a:spcBef>
                        <a:spcAft>
                          <a:spcPts val="0"/>
                        </a:spcAft>
                        <a:buNone/>
                      </a:pPr>
                      <a:r>
                        <a:rPr lang="es-419"/>
                        <a:t>contraseña para el acceso remoto</a:t>
                      </a:r>
                      <a:endParaRPr/>
                    </a:p>
                  </a:txBody>
                  <a:tcPr marT="91425" marB="91425" marR="91425" marL="91425"/>
                </a:tc>
                <a:tc>
                  <a:txBody>
                    <a:bodyPr/>
                    <a:lstStyle/>
                    <a:p>
                      <a:pPr indent="0" lvl="0" marL="0" rtl="0" algn="l">
                        <a:spcBef>
                          <a:spcPts val="0"/>
                        </a:spcBef>
                        <a:spcAft>
                          <a:spcPts val="0"/>
                        </a:spcAft>
                        <a:buNone/>
                      </a:pPr>
                      <a:r>
                        <a:rPr lang="es-419"/>
                        <a:t>password {password}</a:t>
                      </a:r>
                      <a:endParaRPr/>
                    </a:p>
                  </a:txBody>
                  <a:tcPr marT="91425" marB="91425" marR="91425" marL="91425"/>
                </a:tc>
              </a:tr>
              <a:tr h="381000">
                <a:tc>
                  <a:txBody>
                    <a:bodyPr/>
                    <a:lstStyle/>
                    <a:p>
                      <a:pPr indent="0" lvl="0" marL="0" rtl="0" algn="l">
                        <a:spcBef>
                          <a:spcPts val="0"/>
                        </a:spcBef>
                        <a:spcAft>
                          <a:spcPts val="0"/>
                        </a:spcAft>
                        <a:buNone/>
                      </a:pPr>
                      <a:r>
                        <a:rPr lang="es-419"/>
                        <a:t>Cifrado</a:t>
                      </a:r>
                      <a:endParaRPr/>
                    </a:p>
                  </a:txBody>
                  <a:tcPr marT="91425" marB="91425" marR="91425" marL="91425"/>
                </a:tc>
                <a:tc>
                  <a:txBody>
                    <a:bodyPr/>
                    <a:lstStyle/>
                    <a:p>
                      <a:pPr indent="0" lvl="0" marL="0" rtl="0" algn="l">
                        <a:spcBef>
                          <a:spcPts val="0"/>
                        </a:spcBef>
                        <a:spcAft>
                          <a:spcPts val="0"/>
                        </a:spcAft>
                        <a:buNone/>
                      </a:pPr>
                      <a:r>
                        <a:rPr lang="es-419"/>
                        <a:t>cifra las contraseñas </a:t>
                      </a:r>
                      <a:endParaRPr/>
                    </a:p>
                  </a:txBody>
                  <a:tcPr marT="91425" marB="91425" marR="91425" marL="91425"/>
                </a:tc>
                <a:tc>
                  <a:txBody>
                    <a:bodyPr/>
                    <a:lstStyle/>
                    <a:p>
                      <a:pPr indent="0" lvl="0" marL="0" rtl="0" algn="l">
                        <a:spcBef>
                          <a:spcPts val="0"/>
                        </a:spcBef>
                        <a:spcAft>
                          <a:spcPts val="0"/>
                        </a:spcAft>
                        <a:buNone/>
                      </a:pPr>
                      <a:r>
                        <a:rPr lang="es-419"/>
                        <a:t>service password-encryption</a:t>
                      </a:r>
                      <a:endParaRPr/>
                    </a:p>
                  </a:txBody>
                  <a:tcPr marT="91425" marB="91425" marR="91425" marL="91425"/>
                </a:tc>
              </a:tr>
              <a:tr h="621125">
                <a:tc>
                  <a:txBody>
                    <a:bodyPr/>
                    <a:lstStyle/>
                    <a:p>
                      <a:pPr indent="0" lvl="0" marL="0" rtl="0" algn="l">
                        <a:spcBef>
                          <a:spcPts val="0"/>
                        </a:spcBef>
                        <a:spcAft>
                          <a:spcPts val="0"/>
                        </a:spcAft>
                        <a:buNone/>
                      </a:pPr>
                      <a:r>
                        <a:rPr lang="es-419"/>
                        <a:t>Mensaje de advertencia</a:t>
                      </a:r>
                      <a:endParaRPr/>
                    </a:p>
                  </a:txBody>
                  <a:tcPr marT="91425" marB="91425" marR="91425" marL="91425"/>
                </a:tc>
                <a:tc>
                  <a:txBody>
                    <a:bodyPr/>
                    <a:lstStyle/>
                    <a:p>
                      <a:pPr indent="0" lvl="0" marL="0" rtl="0" algn="l">
                        <a:spcBef>
                          <a:spcPts val="0"/>
                        </a:spcBef>
                        <a:spcAft>
                          <a:spcPts val="0"/>
                        </a:spcAft>
                        <a:buNone/>
                      </a:pPr>
                      <a:r>
                        <a:rPr lang="es-419"/>
                        <a:t>Configura un mensaje de advertencia de entrada</a:t>
                      </a:r>
                      <a:endParaRPr/>
                    </a:p>
                  </a:txBody>
                  <a:tcPr marT="91425" marB="91425" marR="91425" marL="91425"/>
                </a:tc>
                <a:tc>
                  <a:txBody>
                    <a:bodyPr/>
                    <a:lstStyle/>
                    <a:p>
                      <a:pPr indent="0" lvl="0" marL="0" rtl="0" algn="l">
                        <a:spcBef>
                          <a:spcPts val="0"/>
                        </a:spcBef>
                        <a:spcAft>
                          <a:spcPts val="0"/>
                        </a:spcAft>
                        <a:buNone/>
                      </a:pPr>
                      <a:r>
                        <a:rPr lang="es-419"/>
                        <a:t>banner mtd #</a:t>
                      </a:r>
                      <a:endParaRPr/>
                    </a:p>
                  </a:txBody>
                  <a:tcPr marT="91425" marB="91425" marR="91425" marL="91425"/>
                </a:tc>
              </a:tr>
              <a:tr h="621125">
                <a:tc>
                  <a:txBody>
                    <a:bodyPr/>
                    <a:lstStyle/>
                    <a:p>
                      <a:pPr indent="0" lvl="0" marL="0" rtl="0" algn="l">
                        <a:spcBef>
                          <a:spcPts val="0"/>
                        </a:spcBef>
                        <a:spcAft>
                          <a:spcPts val="0"/>
                        </a:spcAft>
                        <a:buNone/>
                      </a:pPr>
                      <a:r>
                        <a:rPr lang="es-419"/>
                        <a:t>guardar cambios</a:t>
                      </a:r>
                      <a:endParaRPr/>
                    </a:p>
                  </a:txBody>
                  <a:tcPr marT="91425" marB="91425" marR="91425" marL="91425"/>
                </a:tc>
                <a:tc>
                  <a:txBody>
                    <a:bodyPr/>
                    <a:lstStyle/>
                    <a:p>
                      <a:pPr indent="0" lvl="0" marL="0" rtl="0" algn="l">
                        <a:spcBef>
                          <a:spcPts val="0"/>
                        </a:spcBef>
                        <a:spcAft>
                          <a:spcPts val="0"/>
                        </a:spcAft>
                        <a:buNone/>
                      </a:pPr>
                      <a:r>
                        <a:rPr lang="es-419"/>
                        <a:t>Guarda la configuración en el switch</a:t>
                      </a:r>
                      <a:endParaRPr/>
                    </a:p>
                  </a:txBody>
                  <a:tcPr marT="91425" marB="91425" marR="91425" marL="91425"/>
                </a:tc>
                <a:tc>
                  <a:txBody>
                    <a:bodyPr/>
                    <a:lstStyle/>
                    <a:p>
                      <a:pPr indent="0" lvl="0" marL="0" rtl="0" algn="l">
                        <a:spcBef>
                          <a:spcPts val="0"/>
                        </a:spcBef>
                        <a:spcAft>
                          <a:spcPts val="0"/>
                        </a:spcAft>
                        <a:buNone/>
                      </a:pPr>
                      <a:r>
                        <a:rPr lang="es-419"/>
                        <a:t>copy running-config startup-config</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253825"/>
            <a:ext cx="8520600" cy="112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Configuración por medio de CLI</a:t>
            </a:r>
            <a:endParaRPr/>
          </a:p>
          <a:p>
            <a:pPr indent="0" lvl="0" marL="0" rtl="0" algn="l">
              <a:spcBef>
                <a:spcPts val="0"/>
              </a:spcBef>
              <a:spcAft>
                <a:spcPts val="0"/>
              </a:spcAft>
              <a:buNone/>
            </a:pPr>
            <a:r>
              <a:rPr lang="es-419" sz="2711"/>
              <a:t>Renombrar un dispositivo y comandos show y debug</a:t>
            </a:r>
            <a:endParaRPr sz="2711"/>
          </a:p>
          <a:p>
            <a:pPr indent="0" lvl="0" marL="0" rtl="0" algn="l">
              <a:spcBef>
                <a:spcPts val="0"/>
              </a:spcBef>
              <a:spcAft>
                <a:spcPts val="0"/>
              </a:spcAft>
              <a:buNone/>
            </a:pPr>
            <a:r>
              <a:t/>
            </a:r>
            <a:endParaRPr/>
          </a:p>
        </p:txBody>
      </p:sp>
      <p:sp>
        <p:nvSpPr>
          <p:cNvPr id="111" name="Google Shape;111;p2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419"/>
              <a:t>Para poder renombrar un dispositivo, es necesario entrar a su configuración global con el comando </a:t>
            </a:r>
            <a:r>
              <a:rPr b="1" lang="es-419"/>
              <a:t>configure terminal, </a:t>
            </a:r>
            <a:r>
              <a:rPr lang="es-419"/>
              <a:t>una vez ingresado al promt correspondiente colocar hostname y el nuevo nombre.</a:t>
            </a:r>
            <a:endParaRPr/>
          </a:p>
          <a:p>
            <a:pPr indent="0" lvl="0" marL="0" rtl="0" algn="l">
              <a:spcBef>
                <a:spcPts val="1200"/>
              </a:spcBef>
              <a:spcAft>
                <a:spcPts val="0"/>
              </a:spcAft>
              <a:buNone/>
            </a:pPr>
            <a:r>
              <a:rPr lang="es-419"/>
              <a:t>Los comandos show </a:t>
            </a:r>
            <a:r>
              <a:rPr lang="es-419"/>
              <a:t>muestran</a:t>
            </a:r>
            <a:r>
              <a:rPr lang="es-419"/>
              <a:t> información </a:t>
            </a:r>
            <a:r>
              <a:rPr lang="es-419"/>
              <a:t>estática</a:t>
            </a:r>
            <a:r>
              <a:rPr lang="es-419"/>
              <a:t> de los dispositivos, mostrando una </a:t>
            </a:r>
            <a:r>
              <a:rPr lang="es-419"/>
              <a:t>instantánea</a:t>
            </a:r>
            <a:r>
              <a:rPr lang="es-419"/>
              <a:t> de ese dispositivo. Mientras que los comandos debug, muestran información </a:t>
            </a:r>
            <a:r>
              <a:rPr lang="es-419"/>
              <a:t>dinámica</a:t>
            </a:r>
            <a:r>
              <a:rPr lang="es-419"/>
              <a:t>, como en </a:t>
            </a:r>
            <a:r>
              <a:rPr lang="es-419"/>
              <a:t>tráfico</a:t>
            </a:r>
            <a:r>
              <a:rPr lang="es-419"/>
              <a:t> de un router.</a:t>
            </a:r>
            <a:endParaRPr/>
          </a:p>
          <a:p>
            <a:pPr indent="0" lvl="0" marL="0" rtl="0" algn="l">
              <a:spcBef>
                <a:spcPts val="1200"/>
              </a:spcBef>
              <a:spcAft>
                <a:spcPts val="0"/>
              </a:spcAft>
              <a:buNone/>
            </a:pPr>
            <a:r>
              <a:rPr b="1" lang="es-419" sz="1500"/>
              <a:t>Comandos show: </a:t>
            </a:r>
            <a:r>
              <a:rPr lang="es-419" sz="1500" u="sng">
                <a:solidFill>
                  <a:schemeClr val="hlink"/>
                </a:solidFill>
                <a:hlinkClick r:id="rId3"/>
              </a:rPr>
              <a:t>https://www.solvetic.com/tutoriales/article/170-comandos-cisco-show/</a:t>
            </a:r>
            <a:endParaRPr sz="1500"/>
          </a:p>
          <a:p>
            <a:pPr indent="0" lvl="0" marL="0" rtl="0" algn="l">
              <a:spcBef>
                <a:spcPts val="1200"/>
              </a:spcBef>
              <a:spcAft>
                <a:spcPts val="0"/>
              </a:spcAft>
              <a:buNone/>
            </a:pPr>
            <a:r>
              <a:t/>
            </a:r>
            <a:endParaRPr b="1" sz="1500"/>
          </a:p>
          <a:p>
            <a:pPr indent="0" lvl="0" marL="0" rtl="0" algn="l">
              <a:spcBef>
                <a:spcPts val="1200"/>
              </a:spcBef>
              <a:spcAft>
                <a:spcPts val="0"/>
              </a:spcAft>
              <a:buNone/>
            </a:pPr>
            <a:r>
              <a:t/>
            </a:r>
            <a:endParaRPr b="1" sz="1050">
              <a:solidFill>
                <a:srgbClr val="58585B"/>
              </a:solidFill>
              <a:latin typeface="Arial"/>
              <a:ea typeface="Arial"/>
              <a:cs typeface="Arial"/>
              <a:sym typeface="Arial"/>
            </a:endParaRPr>
          </a:p>
          <a:p>
            <a:pPr indent="0" lvl="0" marL="0" rtl="0" algn="l">
              <a:spcBef>
                <a:spcPts val="8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274550" y="95980"/>
            <a:ext cx="8520600" cy="69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sz="3266"/>
              <a:t>Renombrar un dispositivo y comandos show y debug</a:t>
            </a:r>
            <a:endParaRPr sz="3266"/>
          </a:p>
          <a:p>
            <a:pPr indent="0" lvl="0" marL="0" rtl="0" algn="l">
              <a:spcBef>
                <a:spcPts val="0"/>
              </a:spcBef>
              <a:spcAft>
                <a:spcPts val="0"/>
              </a:spcAft>
              <a:buNone/>
            </a:pPr>
            <a:r>
              <a:t/>
            </a:r>
            <a:endParaRPr/>
          </a:p>
        </p:txBody>
      </p:sp>
      <p:sp>
        <p:nvSpPr>
          <p:cNvPr id="117" name="Google Shape;117;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500"/>
          </a:p>
          <a:p>
            <a:pPr indent="0" lvl="0" marL="0" rtl="0" algn="l">
              <a:spcBef>
                <a:spcPts val="1200"/>
              </a:spcBef>
              <a:spcAft>
                <a:spcPts val="0"/>
              </a:spcAft>
              <a:buNone/>
            </a:pPr>
            <a:r>
              <a:t/>
            </a:r>
            <a:endParaRPr b="1" sz="1500"/>
          </a:p>
          <a:p>
            <a:pPr indent="0" lvl="0" marL="0" rtl="0" algn="l">
              <a:spcBef>
                <a:spcPts val="1200"/>
              </a:spcBef>
              <a:spcAft>
                <a:spcPts val="0"/>
              </a:spcAft>
              <a:buNone/>
            </a:pPr>
            <a:r>
              <a:t/>
            </a:r>
            <a:endParaRPr b="1" sz="1050">
              <a:solidFill>
                <a:srgbClr val="58585B"/>
              </a:solidFill>
              <a:latin typeface="Arial"/>
              <a:ea typeface="Arial"/>
              <a:cs typeface="Arial"/>
              <a:sym typeface="Arial"/>
            </a:endParaRPr>
          </a:p>
          <a:p>
            <a:pPr indent="0" lvl="0" marL="0" rtl="0" algn="l">
              <a:spcBef>
                <a:spcPts val="800"/>
              </a:spcBef>
              <a:spcAft>
                <a:spcPts val="1200"/>
              </a:spcAft>
              <a:buNone/>
            </a:pPr>
            <a:r>
              <a:t/>
            </a:r>
            <a:endParaRPr/>
          </a:p>
        </p:txBody>
      </p:sp>
      <p:graphicFrame>
        <p:nvGraphicFramePr>
          <p:cNvPr id="118" name="Google Shape;118;p21"/>
          <p:cNvGraphicFramePr/>
          <p:nvPr/>
        </p:nvGraphicFramePr>
        <p:xfrm>
          <a:off x="274550" y="982457"/>
          <a:ext cx="3000000" cy="3000000"/>
        </p:xfrm>
        <a:graphic>
          <a:graphicData uri="http://schemas.openxmlformats.org/drawingml/2006/table">
            <a:tbl>
              <a:tblPr>
                <a:noFill/>
                <a:tableStyleId>{B1824ECD-2358-430B-A8BD-1B33570642A3}</a:tableStyleId>
              </a:tblPr>
              <a:tblGrid>
                <a:gridCol w="2170200"/>
                <a:gridCol w="6350400"/>
              </a:tblGrid>
              <a:tr h="359275">
                <a:tc>
                  <a:txBody>
                    <a:bodyPr/>
                    <a:lstStyle/>
                    <a:p>
                      <a:pPr indent="0" lvl="0" marL="0" rtl="0" algn="l">
                        <a:spcBef>
                          <a:spcPts val="0"/>
                        </a:spcBef>
                        <a:spcAft>
                          <a:spcPts val="0"/>
                        </a:spcAft>
                        <a:buNone/>
                      </a:pPr>
                      <a:r>
                        <a:rPr b="1" lang="es-419" sz="1000"/>
                        <a:t>Comando</a:t>
                      </a:r>
                      <a:endParaRPr b="1" sz="1000"/>
                    </a:p>
                  </a:txBody>
                  <a:tcPr marT="91425" marB="91425" marR="91425" marL="91425"/>
                </a:tc>
                <a:tc>
                  <a:txBody>
                    <a:bodyPr/>
                    <a:lstStyle/>
                    <a:p>
                      <a:pPr indent="0" lvl="0" marL="0" rtl="0" algn="l">
                        <a:spcBef>
                          <a:spcPts val="0"/>
                        </a:spcBef>
                        <a:spcAft>
                          <a:spcPts val="0"/>
                        </a:spcAft>
                        <a:buNone/>
                      </a:pPr>
                      <a:r>
                        <a:rPr b="1" lang="es-419" sz="1000"/>
                        <a:t>Descripción</a:t>
                      </a:r>
                      <a:endParaRPr b="1" sz="1000"/>
                    </a:p>
                  </a:txBody>
                  <a:tcPr marT="91425" marB="91425" marR="91425" marL="91425"/>
                </a:tc>
              </a:tr>
              <a:tr h="498150">
                <a:tc>
                  <a:txBody>
                    <a:bodyPr/>
                    <a:lstStyle/>
                    <a:p>
                      <a:pPr indent="0" lvl="0" marL="0" rtl="0" algn="l">
                        <a:spcBef>
                          <a:spcPts val="0"/>
                        </a:spcBef>
                        <a:spcAft>
                          <a:spcPts val="0"/>
                        </a:spcAft>
                        <a:buNone/>
                      </a:pPr>
                      <a:r>
                        <a:rPr lang="es-419" sz="1000"/>
                        <a:t>debug ip packet</a:t>
                      </a:r>
                      <a:endParaRPr sz="1000"/>
                    </a:p>
                  </a:txBody>
                  <a:tcPr marT="91425" marB="91425" marR="91425" marL="91425"/>
                </a:tc>
                <a:tc>
                  <a:txBody>
                    <a:bodyPr/>
                    <a:lstStyle/>
                    <a:p>
                      <a:pPr indent="0" lvl="0" marL="0" rtl="0" algn="l">
                        <a:spcBef>
                          <a:spcPts val="0"/>
                        </a:spcBef>
                        <a:spcAft>
                          <a:spcPts val="0"/>
                        </a:spcAft>
                        <a:buNone/>
                      </a:pPr>
                      <a:r>
                        <a:rPr lang="es-419" sz="1000"/>
                        <a:t>Muestra información sobre los </a:t>
                      </a:r>
                      <a:r>
                        <a:rPr lang="es-419" sz="1000"/>
                        <a:t>paquetes</a:t>
                      </a:r>
                      <a:r>
                        <a:rPr lang="es-419" sz="1000"/>
                        <a:t> IP enviados y recibidos</a:t>
                      </a:r>
                      <a:endParaRPr sz="1000"/>
                    </a:p>
                  </a:txBody>
                  <a:tcPr marT="91425" marB="91425" marR="91425" marL="91425"/>
                </a:tc>
              </a:tr>
              <a:tr h="327050">
                <a:tc>
                  <a:txBody>
                    <a:bodyPr/>
                    <a:lstStyle/>
                    <a:p>
                      <a:pPr indent="0" lvl="0" marL="0" rtl="0" algn="l">
                        <a:spcBef>
                          <a:spcPts val="0"/>
                        </a:spcBef>
                        <a:spcAft>
                          <a:spcPts val="0"/>
                        </a:spcAft>
                        <a:buNone/>
                      </a:pPr>
                      <a:r>
                        <a:rPr lang="es-419" sz="1000"/>
                        <a:t>debug arp</a:t>
                      </a:r>
                      <a:endParaRPr sz="1000"/>
                    </a:p>
                  </a:txBody>
                  <a:tcPr marT="91425" marB="91425" marR="91425" marL="91425"/>
                </a:tc>
                <a:tc>
                  <a:txBody>
                    <a:bodyPr/>
                    <a:lstStyle/>
                    <a:p>
                      <a:pPr indent="0" lvl="0" marL="0" rtl="0" algn="l">
                        <a:spcBef>
                          <a:spcPts val="0"/>
                        </a:spcBef>
                        <a:spcAft>
                          <a:spcPts val="0"/>
                        </a:spcAft>
                        <a:buNone/>
                      </a:pPr>
                      <a:r>
                        <a:rPr lang="es-419" sz="1000"/>
                        <a:t>Muestra la actividad del protocolo ARP</a:t>
                      </a:r>
                      <a:endParaRPr sz="1000"/>
                    </a:p>
                  </a:txBody>
                  <a:tcPr marT="91425" marB="91425" marR="91425" marL="91425"/>
                </a:tc>
              </a:tr>
              <a:tr h="327050">
                <a:tc>
                  <a:txBody>
                    <a:bodyPr/>
                    <a:lstStyle/>
                    <a:p>
                      <a:pPr indent="0" lvl="0" marL="0" rtl="0" algn="l">
                        <a:spcBef>
                          <a:spcPts val="0"/>
                        </a:spcBef>
                        <a:spcAft>
                          <a:spcPts val="0"/>
                        </a:spcAft>
                        <a:buNone/>
                      </a:pPr>
                      <a:r>
                        <a:rPr lang="es-419" sz="1000"/>
                        <a:t>debug ppp negotiation</a:t>
                      </a:r>
                      <a:endParaRPr sz="1000"/>
                    </a:p>
                  </a:txBody>
                  <a:tcPr marT="91425" marB="91425" marR="91425" marL="91425"/>
                </a:tc>
                <a:tc>
                  <a:txBody>
                    <a:bodyPr/>
                    <a:lstStyle/>
                    <a:p>
                      <a:pPr indent="0" lvl="0" marL="0" rtl="0" algn="l">
                        <a:spcBef>
                          <a:spcPts val="0"/>
                        </a:spcBef>
                        <a:spcAft>
                          <a:spcPts val="0"/>
                        </a:spcAft>
                        <a:buNone/>
                      </a:pPr>
                      <a:r>
                        <a:rPr lang="es-419" sz="1000"/>
                        <a:t>Supervisa el proceso de negociación PPP en una interfaz</a:t>
                      </a:r>
                      <a:endParaRPr sz="1000"/>
                    </a:p>
                  </a:txBody>
                  <a:tcPr marT="91425" marB="91425" marR="91425" marL="91425"/>
                </a:tc>
              </a:tr>
              <a:tr h="327050">
                <a:tc>
                  <a:txBody>
                    <a:bodyPr/>
                    <a:lstStyle/>
                    <a:p>
                      <a:pPr indent="0" lvl="0" marL="0" rtl="0" algn="l">
                        <a:spcBef>
                          <a:spcPts val="0"/>
                        </a:spcBef>
                        <a:spcAft>
                          <a:spcPts val="0"/>
                        </a:spcAft>
                        <a:buNone/>
                      </a:pPr>
                      <a:r>
                        <a:rPr lang="es-419" sz="1000"/>
                        <a:t>debug ip ospf events </a:t>
                      </a:r>
                      <a:endParaRPr sz="1000"/>
                    </a:p>
                  </a:txBody>
                  <a:tcPr marT="91425" marB="91425" marR="91425" marL="91425"/>
                </a:tc>
                <a:tc>
                  <a:txBody>
                    <a:bodyPr/>
                    <a:lstStyle/>
                    <a:p>
                      <a:pPr indent="0" lvl="0" marL="0" rtl="0" algn="l">
                        <a:spcBef>
                          <a:spcPts val="0"/>
                        </a:spcBef>
                        <a:spcAft>
                          <a:spcPts val="0"/>
                        </a:spcAft>
                        <a:buNone/>
                      </a:pPr>
                      <a:r>
                        <a:rPr lang="es-419" sz="1000"/>
                        <a:t>Comprueba eventos OSPF, como establecimiento de vecinos o estados del router</a:t>
                      </a:r>
                      <a:endParaRPr sz="1000"/>
                    </a:p>
                  </a:txBody>
                  <a:tcPr marT="91425" marB="91425" marR="91425" marL="91425"/>
                </a:tc>
              </a:tr>
              <a:tr h="327050">
                <a:tc>
                  <a:txBody>
                    <a:bodyPr/>
                    <a:lstStyle/>
                    <a:p>
                      <a:pPr indent="0" lvl="0" marL="0" rtl="0" algn="l">
                        <a:spcBef>
                          <a:spcPts val="0"/>
                        </a:spcBef>
                        <a:spcAft>
                          <a:spcPts val="0"/>
                        </a:spcAft>
                        <a:buNone/>
                      </a:pPr>
                      <a:r>
                        <a:rPr lang="es-419" sz="1000"/>
                        <a:t>debug eigrp packets</a:t>
                      </a:r>
                      <a:endParaRPr sz="1000"/>
                    </a:p>
                  </a:txBody>
                  <a:tcPr marT="91425" marB="91425" marR="91425" marL="91425"/>
                </a:tc>
                <a:tc>
                  <a:txBody>
                    <a:bodyPr/>
                    <a:lstStyle/>
                    <a:p>
                      <a:pPr indent="0" lvl="0" marL="0" rtl="0" algn="l">
                        <a:spcBef>
                          <a:spcPts val="0"/>
                        </a:spcBef>
                        <a:spcAft>
                          <a:spcPts val="0"/>
                        </a:spcAft>
                        <a:buNone/>
                      </a:pPr>
                      <a:r>
                        <a:rPr lang="es-419" sz="1000"/>
                        <a:t>Muestra información detallada sobre paquetes EIGRP enviados y recibidos</a:t>
                      </a:r>
                      <a:endParaRPr sz="1000"/>
                    </a:p>
                  </a:txBody>
                  <a:tcPr marT="91425" marB="91425" marR="91425" marL="91425"/>
                </a:tc>
              </a:tr>
              <a:tr h="327050">
                <a:tc>
                  <a:txBody>
                    <a:bodyPr/>
                    <a:lstStyle/>
                    <a:p>
                      <a:pPr indent="0" lvl="0" marL="0" rtl="0" algn="l">
                        <a:spcBef>
                          <a:spcPts val="0"/>
                        </a:spcBef>
                        <a:spcAft>
                          <a:spcPts val="0"/>
                        </a:spcAft>
                        <a:buNone/>
                      </a:pPr>
                      <a:r>
                        <a:rPr lang="es-419" sz="1000"/>
                        <a:t>debug arp</a:t>
                      </a:r>
                      <a:endParaRPr sz="1000"/>
                    </a:p>
                  </a:txBody>
                  <a:tcPr marT="91425" marB="91425" marR="91425" marL="91425"/>
                </a:tc>
                <a:tc>
                  <a:txBody>
                    <a:bodyPr/>
                    <a:lstStyle/>
                    <a:p>
                      <a:pPr indent="0" lvl="0" marL="0" rtl="0" algn="l">
                        <a:spcBef>
                          <a:spcPts val="0"/>
                        </a:spcBef>
                        <a:spcAft>
                          <a:spcPts val="0"/>
                        </a:spcAft>
                        <a:buNone/>
                      </a:pPr>
                      <a:r>
                        <a:rPr lang="es-419" sz="1000"/>
                        <a:t>Comprueba solicitudes y respuestas ARP, en la capa 2</a:t>
                      </a:r>
                      <a:endParaRPr sz="1000"/>
                    </a:p>
                  </a:txBody>
                  <a:tcPr marT="91425" marB="91425" marR="91425" marL="91425"/>
                </a:tc>
              </a:tr>
              <a:tr h="327050">
                <a:tc>
                  <a:txBody>
                    <a:bodyPr/>
                    <a:lstStyle/>
                    <a:p>
                      <a:pPr indent="0" lvl="0" marL="0" rtl="0" algn="l">
                        <a:spcBef>
                          <a:spcPts val="0"/>
                        </a:spcBef>
                        <a:spcAft>
                          <a:spcPts val="0"/>
                        </a:spcAft>
                        <a:buNone/>
                      </a:pPr>
                      <a:r>
                        <a:rPr lang="es-419" sz="1000"/>
                        <a:t>debug ppp negotation</a:t>
                      </a:r>
                      <a:endParaRPr sz="1000"/>
                    </a:p>
                  </a:txBody>
                  <a:tcPr marT="91425" marB="91425" marR="91425" marL="91425"/>
                </a:tc>
                <a:tc>
                  <a:txBody>
                    <a:bodyPr/>
                    <a:lstStyle/>
                    <a:p>
                      <a:pPr indent="0" lvl="0" marL="0" rtl="0" algn="l">
                        <a:spcBef>
                          <a:spcPts val="0"/>
                        </a:spcBef>
                        <a:spcAft>
                          <a:spcPts val="0"/>
                        </a:spcAft>
                        <a:buNone/>
                      </a:pPr>
                      <a:r>
                        <a:rPr lang="es-419" sz="1000"/>
                        <a:t>Supervisa el proceso de </a:t>
                      </a:r>
                      <a:r>
                        <a:rPr lang="es-419" sz="1000"/>
                        <a:t>negociación</a:t>
                      </a:r>
                      <a:r>
                        <a:rPr lang="es-419" sz="1000"/>
                        <a:t> del protocolo PPP en los enlaces</a:t>
                      </a:r>
                      <a:endParaRPr sz="1000"/>
                    </a:p>
                  </a:txBody>
                  <a:tcPr marT="91425" marB="91425" marR="91425" marL="91425"/>
                </a:tc>
              </a:tr>
              <a:tr h="327050">
                <a:tc>
                  <a:txBody>
                    <a:bodyPr/>
                    <a:lstStyle/>
                    <a:p>
                      <a:pPr indent="0" lvl="0" marL="0" rtl="0" algn="l">
                        <a:spcBef>
                          <a:spcPts val="0"/>
                        </a:spcBef>
                        <a:spcAft>
                          <a:spcPts val="0"/>
                        </a:spcAft>
                        <a:buNone/>
                      </a:pPr>
                      <a:r>
                        <a:rPr lang="es-419" sz="1000"/>
                        <a:t>debug interface </a:t>
                      </a:r>
                      <a:endParaRPr sz="1000"/>
                    </a:p>
                  </a:txBody>
                  <a:tcPr marT="91425" marB="91425" marR="91425" marL="91425"/>
                </a:tc>
                <a:tc>
                  <a:txBody>
                    <a:bodyPr/>
                    <a:lstStyle/>
                    <a:p>
                      <a:pPr indent="0" lvl="0" marL="0" rtl="0" algn="l">
                        <a:spcBef>
                          <a:spcPts val="0"/>
                        </a:spcBef>
                        <a:spcAft>
                          <a:spcPts val="0"/>
                        </a:spcAft>
                        <a:buNone/>
                      </a:pPr>
                      <a:r>
                        <a:rPr lang="es-419" sz="1000"/>
                        <a:t>Muestra el estado de una interfaz de red</a:t>
                      </a:r>
                      <a:endParaRPr sz="1000"/>
                    </a:p>
                  </a:txBody>
                  <a:tcPr marT="91425" marB="91425" marR="91425" marL="91425"/>
                </a:tc>
              </a:tr>
              <a:tr h="327050">
                <a:tc>
                  <a:txBody>
                    <a:bodyPr/>
                    <a:lstStyle/>
                    <a:p>
                      <a:pPr indent="0" lvl="0" marL="0" rtl="0" algn="l">
                        <a:spcBef>
                          <a:spcPts val="0"/>
                        </a:spcBef>
                        <a:spcAft>
                          <a:spcPts val="0"/>
                        </a:spcAft>
                        <a:buNone/>
                      </a:pPr>
                      <a:r>
                        <a:rPr lang="es-419" sz="1000"/>
                        <a:t>debug ip tcp transactions</a:t>
                      </a:r>
                      <a:endParaRPr sz="1000"/>
                    </a:p>
                  </a:txBody>
                  <a:tcPr marT="91425" marB="91425" marR="91425" marL="91425"/>
                </a:tc>
                <a:tc>
                  <a:txBody>
                    <a:bodyPr/>
                    <a:lstStyle/>
                    <a:p>
                      <a:pPr indent="0" lvl="0" marL="0" rtl="0" algn="l">
                        <a:spcBef>
                          <a:spcPts val="0"/>
                        </a:spcBef>
                        <a:spcAft>
                          <a:spcPts val="0"/>
                        </a:spcAft>
                        <a:buNone/>
                      </a:pPr>
                      <a:r>
                        <a:rPr lang="es-419" sz="1000"/>
                        <a:t>Comprueba las transacciones TCP en el router</a:t>
                      </a:r>
                      <a:endParaRPr sz="1000"/>
                    </a:p>
                  </a:txBody>
                  <a:tcPr marT="91425" marB="91425" marR="91425" marL="91425"/>
                </a:tc>
              </a:tr>
              <a:tr h="327050">
                <a:tc>
                  <a:txBody>
                    <a:bodyPr/>
                    <a:lstStyle/>
                    <a:p>
                      <a:pPr indent="0" lvl="0" marL="0" rtl="0" algn="l">
                        <a:spcBef>
                          <a:spcPts val="0"/>
                        </a:spcBef>
                        <a:spcAft>
                          <a:spcPts val="0"/>
                        </a:spcAft>
                        <a:buNone/>
                      </a:pPr>
                      <a:r>
                        <a:rPr lang="es-419" sz="1000"/>
                        <a:t>undebug all ó u all</a:t>
                      </a:r>
                      <a:endParaRPr sz="1000"/>
                    </a:p>
                  </a:txBody>
                  <a:tcPr marT="91425" marB="91425" marR="91425" marL="91425"/>
                </a:tc>
                <a:tc>
                  <a:txBody>
                    <a:bodyPr/>
                    <a:lstStyle/>
                    <a:p>
                      <a:pPr indent="0" lvl="0" marL="0" rtl="0" algn="l">
                        <a:spcBef>
                          <a:spcPts val="0"/>
                        </a:spcBef>
                        <a:spcAft>
                          <a:spcPts val="0"/>
                        </a:spcAft>
                        <a:buNone/>
                      </a:pPr>
                      <a:r>
                        <a:rPr lang="es-419" sz="1000"/>
                        <a:t>Detiene la depuración de cualquiera de los comandos</a:t>
                      </a:r>
                      <a:endParaRPr sz="10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110800"/>
            <a:ext cx="8520600" cy="1105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Configuración </a:t>
            </a:r>
            <a:r>
              <a:rPr lang="es-419"/>
              <a:t>básica</a:t>
            </a:r>
            <a:r>
              <a:rPr lang="es-419"/>
              <a:t> de interfaces</a:t>
            </a:r>
            <a:endParaRPr/>
          </a:p>
          <a:p>
            <a:pPr indent="0" lvl="0" marL="0" rtl="0" algn="l">
              <a:spcBef>
                <a:spcPts val="0"/>
              </a:spcBef>
              <a:spcAft>
                <a:spcPts val="0"/>
              </a:spcAft>
              <a:buNone/>
            </a:pPr>
            <a:r>
              <a:rPr lang="es-419"/>
              <a:t>Router</a:t>
            </a:r>
            <a:endParaRPr/>
          </a:p>
          <a:p>
            <a:pPr indent="0" lvl="0" marL="0" rtl="0" algn="l">
              <a:spcBef>
                <a:spcPts val="0"/>
              </a:spcBef>
              <a:spcAft>
                <a:spcPts val="0"/>
              </a:spcAft>
              <a:buNone/>
            </a:pPr>
            <a:r>
              <a:t/>
            </a:r>
            <a:endParaRPr/>
          </a:p>
        </p:txBody>
      </p:sp>
      <p:sp>
        <p:nvSpPr>
          <p:cNvPr id="124" name="Google Shape;124;p22"/>
          <p:cNvSpPr txBox="1"/>
          <p:nvPr>
            <p:ph idx="1" type="body"/>
          </p:nvPr>
        </p:nvSpPr>
        <p:spPr>
          <a:xfrm>
            <a:off x="311700" y="1266325"/>
            <a:ext cx="3894000" cy="3302700"/>
          </a:xfrm>
          <a:prstGeom prst="rect">
            <a:avLst/>
          </a:prstGeom>
        </p:spPr>
        <p:txBody>
          <a:bodyPr anchorCtr="0" anchor="t" bIns="91425" lIns="91425" spcFirstLastPara="1" rIns="91425" wrap="square" tIns="91425">
            <a:normAutofit fontScale="32500" lnSpcReduction="10000"/>
          </a:bodyPr>
          <a:lstStyle/>
          <a:p>
            <a:pPr indent="0" lvl="0" marL="0" rtl="0" algn="l">
              <a:spcBef>
                <a:spcPts val="0"/>
              </a:spcBef>
              <a:spcAft>
                <a:spcPts val="0"/>
              </a:spcAft>
              <a:buNone/>
            </a:pPr>
            <a:r>
              <a:rPr lang="es-419" sz="5830"/>
              <a:t>Para un router se puede configurar:</a:t>
            </a:r>
            <a:endParaRPr sz="5830"/>
          </a:p>
          <a:p>
            <a:pPr indent="-348932" lvl="0" marL="457200" rtl="0" algn="l">
              <a:spcBef>
                <a:spcPts val="1200"/>
              </a:spcBef>
              <a:spcAft>
                <a:spcPts val="0"/>
              </a:spcAft>
              <a:buSzPct val="100000"/>
              <a:buChar char="●"/>
            </a:pPr>
            <a:r>
              <a:rPr lang="es-419" sz="5830"/>
              <a:t>Sus contraseñas en los diferentes niveles de configuración</a:t>
            </a:r>
            <a:endParaRPr sz="5830"/>
          </a:p>
          <a:p>
            <a:pPr indent="-348932" lvl="0" marL="457200" rtl="0" algn="l">
              <a:spcBef>
                <a:spcPts val="0"/>
              </a:spcBef>
              <a:spcAft>
                <a:spcPts val="0"/>
              </a:spcAft>
              <a:buSzPct val="100000"/>
              <a:buChar char="●"/>
            </a:pPr>
            <a:r>
              <a:rPr lang="es-419" sz="5830"/>
              <a:t>Cambio de nombre</a:t>
            </a:r>
            <a:endParaRPr sz="5830"/>
          </a:p>
          <a:p>
            <a:pPr indent="-348932" lvl="0" marL="457200" rtl="0" algn="l">
              <a:spcBef>
                <a:spcPts val="0"/>
              </a:spcBef>
              <a:spcAft>
                <a:spcPts val="0"/>
              </a:spcAft>
              <a:buSzPct val="100000"/>
              <a:buChar char="●"/>
            </a:pPr>
            <a:r>
              <a:rPr lang="es-419" sz="5830"/>
              <a:t>Asignación de IP en sus diferentes interfaces</a:t>
            </a:r>
            <a:endParaRPr sz="5830"/>
          </a:p>
          <a:p>
            <a:pPr indent="0" lvl="0" marL="0" rtl="0" algn="l">
              <a:spcBef>
                <a:spcPts val="1200"/>
              </a:spcBef>
              <a:spcAft>
                <a:spcPts val="0"/>
              </a:spcAft>
              <a:buNone/>
            </a:pPr>
            <a:r>
              <a:t/>
            </a:r>
            <a:endParaRPr b="1" sz="1050">
              <a:solidFill>
                <a:srgbClr val="58585B"/>
              </a:solidFill>
              <a:latin typeface="Arial"/>
              <a:ea typeface="Arial"/>
              <a:cs typeface="Arial"/>
              <a:sym typeface="Arial"/>
            </a:endParaRPr>
          </a:p>
          <a:p>
            <a:pPr indent="0" lvl="0" marL="0" rtl="0" algn="l">
              <a:spcBef>
                <a:spcPts val="800"/>
              </a:spcBef>
              <a:spcAft>
                <a:spcPts val="1200"/>
              </a:spcAft>
              <a:buNone/>
            </a:pPr>
            <a:r>
              <a:t/>
            </a:r>
            <a:endParaRPr/>
          </a:p>
        </p:txBody>
      </p:sp>
      <p:pic>
        <p:nvPicPr>
          <p:cNvPr id="125" name="Google Shape;125;p22"/>
          <p:cNvPicPr preferRelativeResize="0"/>
          <p:nvPr/>
        </p:nvPicPr>
        <p:blipFill>
          <a:blip r:embed="rId3">
            <a:alphaModFix/>
          </a:blip>
          <a:stretch>
            <a:fillRect/>
          </a:stretch>
        </p:blipFill>
        <p:spPr>
          <a:xfrm>
            <a:off x="3949575" y="760550"/>
            <a:ext cx="4882725" cy="39862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110800"/>
            <a:ext cx="8520600" cy="1105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Configuración básica de interfaces</a:t>
            </a:r>
            <a:endParaRPr/>
          </a:p>
          <a:p>
            <a:pPr indent="0" lvl="0" marL="0" rtl="0" algn="l">
              <a:spcBef>
                <a:spcPts val="0"/>
              </a:spcBef>
              <a:spcAft>
                <a:spcPts val="0"/>
              </a:spcAft>
              <a:buNone/>
            </a:pPr>
            <a:r>
              <a:rPr lang="es-419"/>
              <a:t>Switch</a:t>
            </a:r>
            <a:endParaRPr/>
          </a:p>
          <a:p>
            <a:pPr indent="0" lvl="0" marL="0" rtl="0" algn="l">
              <a:spcBef>
                <a:spcPts val="0"/>
              </a:spcBef>
              <a:spcAft>
                <a:spcPts val="0"/>
              </a:spcAft>
              <a:buNone/>
            </a:pPr>
            <a:r>
              <a:t/>
            </a:r>
            <a:endParaRPr/>
          </a:p>
        </p:txBody>
      </p:sp>
      <p:sp>
        <p:nvSpPr>
          <p:cNvPr id="131" name="Google Shape;131;p23"/>
          <p:cNvSpPr txBox="1"/>
          <p:nvPr>
            <p:ph idx="1" type="body"/>
          </p:nvPr>
        </p:nvSpPr>
        <p:spPr>
          <a:xfrm>
            <a:off x="311700" y="1266325"/>
            <a:ext cx="3531900" cy="3302700"/>
          </a:xfrm>
          <a:prstGeom prst="rect">
            <a:avLst/>
          </a:prstGeom>
        </p:spPr>
        <p:txBody>
          <a:bodyPr anchorCtr="0" anchor="t" bIns="91425" lIns="91425" spcFirstLastPara="1" rIns="91425" wrap="square" tIns="91425">
            <a:normAutofit fontScale="32500" lnSpcReduction="20000"/>
          </a:bodyPr>
          <a:lstStyle/>
          <a:p>
            <a:pPr indent="0" lvl="0" marL="0" rtl="0" algn="l">
              <a:spcBef>
                <a:spcPts val="0"/>
              </a:spcBef>
              <a:spcAft>
                <a:spcPts val="0"/>
              </a:spcAft>
              <a:buNone/>
            </a:pPr>
            <a:r>
              <a:rPr lang="es-419" sz="5830"/>
              <a:t>Para un switch se puede configurar:</a:t>
            </a:r>
            <a:endParaRPr sz="5830"/>
          </a:p>
          <a:p>
            <a:pPr indent="-348932" lvl="0" marL="457200" rtl="0" algn="l">
              <a:spcBef>
                <a:spcPts val="1200"/>
              </a:spcBef>
              <a:spcAft>
                <a:spcPts val="0"/>
              </a:spcAft>
              <a:buSzPct val="100000"/>
              <a:buChar char="●"/>
            </a:pPr>
            <a:r>
              <a:rPr lang="es-419" sz="5830"/>
              <a:t>Sus contraseñas en los diferentes niveles de configuración</a:t>
            </a:r>
            <a:endParaRPr sz="5830"/>
          </a:p>
          <a:p>
            <a:pPr indent="-348932" lvl="0" marL="457200" rtl="0" algn="l">
              <a:spcBef>
                <a:spcPts val="0"/>
              </a:spcBef>
              <a:spcAft>
                <a:spcPts val="0"/>
              </a:spcAft>
              <a:buSzPct val="100000"/>
              <a:buChar char="●"/>
            </a:pPr>
            <a:r>
              <a:rPr lang="es-419" sz="5830"/>
              <a:t>Cambio de nombre</a:t>
            </a:r>
            <a:endParaRPr sz="5830"/>
          </a:p>
          <a:p>
            <a:pPr indent="-348932" lvl="0" marL="457200" rtl="0" algn="l">
              <a:spcBef>
                <a:spcPts val="0"/>
              </a:spcBef>
              <a:spcAft>
                <a:spcPts val="0"/>
              </a:spcAft>
              <a:buSzPct val="100000"/>
              <a:buChar char="●"/>
            </a:pPr>
            <a:r>
              <a:rPr lang="es-419" sz="5830"/>
              <a:t>Asignación de IP en sus VLANs, pero no a sus </a:t>
            </a:r>
            <a:r>
              <a:rPr lang="es-419" sz="5830"/>
              <a:t>demás</a:t>
            </a:r>
            <a:r>
              <a:rPr lang="es-419" sz="5830"/>
              <a:t> interfaces</a:t>
            </a:r>
            <a:endParaRPr sz="5830"/>
          </a:p>
          <a:p>
            <a:pPr indent="0" lvl="0" marL="0" rtl="0" algn="l">
              <a:spcBef>
                <a:spcPts val="1200"/>
              </a:spcBef>
              <a:spcAft>
                <a:spcPts val="0"/>
              </a:spcAft>
              <a:buNone/>
            </a:pPr>
            <a:r>
              <a:t/>
            </a:r>
            <a:endParaRPr b="1" sz="1050">
              <a:solidFill>
                <a:srgbClr val="58585B"/>
              </a:solidFill>
              <a:latin typeface="Arial"/>
              <a:ea typeface="Arial"/>
              <a:cs typeface="Arial"/>
              <a:sym typeface="Arial"/>
            </a:endParaRPr>
          </a:p>
          <a:p>
            <a:pPr indent="0" lvl="0" marL="0" rtl="0" algn="l">
              <a:spcBef>
                <a:spcPts val="800"/>
              </a:spcBef>
              <a:spcAft>
                <a:spcPts val="1200"/>
              </a:spcAft>
              <a:buNone/>
            </a:pPr>
            <a:r>
              <a:t/>
            </a:r>
            <a:endParaRPr/>
          </a:p>
        </p:txBody>
      </p:sp>
      <p:pic>
        <p:nvPicPr>
          <p:cNvPr id="132" name="Google Shape;132;p23"/>
          <p:cNvPicPr preferRelativeResize="0"/>
          <p:nvPr/>
        </p:nvPicPr>
        <p:blipFill>
          <a:blip r:embed="rId3">
            <a:alphaModFix/>
          </a:blip>
          <a:stretch>
            <a:fillRect/>
          </a:stretch>
        </p:blipFill>
        <p:spPr>
          <a:xfrm>
            <a:off x="3760025" y="727851"/>
            <a:ext cx="5300401" cy="2770837"/>
          </a:xfrm>
          <a:prstGeom prst="rect">
            <a:avLst/>
          </a:prstGeom>
          <a:noFill/>
          <a:ln>
            <a:noFill/>
          </a:ln>
        </p:spPr>
      </p:pic>
      <p:pic>
        <p:nvPicPr>
          <p:cNvPr id="133" name="Google Shape;133;p23"/>
          <p:cNvPicPr preferRelativeResize="0"/>
          <p:nvPr/>
        </p:nvPicPr>
        <p:blipFill rotWithShape="1">
          <a:blip r:embed="rId4">
            <a:alphaModFix/>
          </a:blip>
          <a:srcRect b="0" l="0" r="0" t="85128"/>
          <a:stretch/>
        </p:blipFill>
        <p:spPr>
          <a:xfrm>
            <a:off x="3760025" y="3498700"/>
            <a:ext cx="5300401" cy="6052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