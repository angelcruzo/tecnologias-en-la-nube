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Economica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6.xml"/><Relationship Id="rId22" Type="http://schemas.openxmlformats.org/officeDocument/2006/relationships/font" Target="fonts/OpenSans-italic.fntdata"/><Relationship Id="rId10" Type="http://schemas.openxmlformats.org/officeDocument/2006/relationships/slide" Target="slides/slide5.xml"/><Relationship Id="rId21" Type="http://schemas.openxmlformats.org/officeDocument/2006/relationships/font" Target="fonts/OpenSans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Economica-bold.fntdata"/><Relationship Id="rId16" Type="http://schemas.openxmlformats.org/officeDocument/2006/relationships/font" Target="fonts/Economica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Economica-boldItalic.fntdata"/><Relationship Id="rId6" Type="http://schemas.openxmlformats.org/officeDocument/2006/relationships/slide" Target="slides/slide1.xml"/><Relationship Id="rId18" Type="http://schemas.openxmlformats.org/officeDocument/2006/relationships/font" Target="fonts/Economica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88c08dd5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88c08dd5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8c08dd50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8c08dd50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8c08dd50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8c08dd50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88c08dd50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88c08dd50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8c08dd50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8c08dd50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88c08dd50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88c08dd50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88c08dd50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88c08dd50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88c08dd50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88c08dd50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8c08dd50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8c08dd50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Subnetting en IPv4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Introducción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Se realiza una división de una red </a:t>
            </a:r>
            <a:r>
              <a:rPr lang="es-419"/>
              <a:t>física</a:t>
            </a:r>
            <a:r>
              <a:rPr lang="es-419"/>
              <a:t> en pequeñas redes </a:t>
            </a:r>
            <a:r>
              <a:rPr lang="es-419"/>
              <a:t>lógicas</a:t>
            </a:r>
            <a:r>
              <a:rPr lang="es-419"/>
              <a:t>, que trabajan a nivel de </a:t>
            </a:r>
            <a:r>
              <a:rPr lang="es-419"/>
              <a:t>envío</a:t>
            </a:r>
            <a:r>
              <a:rPr lang="es-419"/>
              <a:t> y recepción como una red individual</a:t>
            </a:r>
            <a:endParaRPr/>
          </a:p>
        </p:txBody>
      </p:sp>
      <p:pic>
        <p:nvPicPr>
          <p:cNvPr id="70" name="Google Shape;7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2332" y="2247000"/>
            <a:ext cx="4219325" cy="254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Número de subredes necesarias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637" y="1225225"/>
            <a:ext cx="4748725" cy="347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Selección del rango de direcciones</a:t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1151600" y="1147225"/>
            <a:ext cx="33399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1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192.168.10.0/24</a:t>
            </a:r>
            <a:endParaRPr b="1" sz="31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517325" y="2005875"/>
            <a:ext cx="7095900" cy="24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Buscamos que potencia de 2^n cubre el </a:t>
            </a: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número</a:t>
            </a: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 host.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 suma la potencia a la </a:t>
            </a: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máscara</a:t>
            </a: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 red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 buscan los bits de host con 32 - nueva </a:t>
            </a: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máscara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Se busca el rango con 2^</a:t>
            </a: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número</a:t>
            </a:r>
            <a:r>
              <a:rPr lang="es-419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de bits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 de subredes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FLSM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Identificar el </a:t>
            </a:r>
            <a:r>
              <a:rPr lang="es-419"/>
              <a:t>número</a:t>
            </a:r>
            <a:r>
              <a:rPr lang="es-419"/>
              <a:t> de subredes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Asignar la nueva </a:t>
            </a:r>
            <a:r>
              <a:rPr lang="es-419"/>
              <a:t>máscara</a:t>
            </a:r>
            <a:r>
              <a:rPr lang="es-419"/>
              <a:t> de red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Calcular el bit para los host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Calcular el rango de cada red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Calcular el waicar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Realizar la asignación de IPs para cada subred</a:t>
            </a:r>
            <a:endParaRPr/>
          </a:p>
        </p:txBody>
      </p:sp>
      <p:sp>
        <p:nvSpPr>
          <p:cNvPr id="91" name="Google Shape;91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VLSM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Ordenar de mayor a menor las subredes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Calcular el </a:t>
            </a:r>
            <a:r>
              <a:rPr lang="es-419"/>
              <a:t>número</a:t>
            </a:r>
            <a:r>
              <a:rPr lang="es-419"/>
              <a:t> de host y la mascara de red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Realizar la asignación de IPs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Ejercicios de subnetting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100">
                <a:latin typeface="Arial"/>
                <a:ea typeface="Arial"/>
                <a:cs typeface="Arial"/>
                <a:sym typeface="Arial"/>
              </a:rPr>
              <a:t>Dado </a:t>
            </a:r>
            <a:r>
              <a:rPr b="1" lang="es-419" sz="2100">
                <a:latin typeface="Arial"/>
                <a:ea typeface="Arial"/>
                <a:cs typeface="Arial"/>
                <a:sym typeface="Arial"/>
              </a:rPr>
              <a:t>192.168.10.0/24</a:t>
            </a:r>
            <a:r>
              <a:rPr lang="es-419" sz="2100">
                <a:latin typeface="Arial"/>
                <a:ea typeface="Arial"/>
                <a:cs typeface="Arial"/>
                <a:sym typeface="Arial"/>
              </a:rPr>
              <a:t>, crea </a:t>
            </a:r>
            <a:r>
              <a:rPr b="1" lang="es-419" sz="2100">
                <a:latin typeface="Arial"/>
                <a:ea typeface="Arial"/>
                <a:cs typeface="Arial"/>
                <a:sym typeface="Arial"/>
              </a:rPr>
              <a:t>8 subredes</a:t>
            </a:r>
            <a:r>
              <a:rPr lang="es-419" sz="2100">
                <a:latin typeface="Arial"/>
                <a:ea typeface="Arial"/>
                <a:cs typeface="Arial"/>
                <a:sym typeface="Arial"/>
              </a:rPr>
              <a:t> con máscara fija.</a:t>
            </a:r>
            <a:endParaRPr sz="2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100">
                <a:latin typeface="Arial"/>
                <a:ea typeface="Arial"/>
                <a:cs typeface="Arial"/>
                <a:sym typeface="Arial"/>
              </a:rPr>
              <a:t>A partir de </a:t>
            </a:r>
            <a:r>
              <a:rPr b="1" lang="es-419" sz="2100">
                <a:latin typeface="Arial"/>
                <a:ea typeface="Arial"/>
                <a:cs typeface="Arial"/>
                <a:sym typeface="Arial"/>
              </a:rPr>
              <a:t>172.16.0.0/16</a:t>
            </a:r>
            <a:r>
              <a:rPr lang="es-419" sz="2100">
                <a:latin typeface="Arial"/>
                <a:ea typeface="Arial"/>
                <a:cs typeface="Arial"/>
                <a:sym typeface="Arial"/>
              </a:rPr>
              <a:t>, genera subredes con </a:t>
            </a:r>
            <a:r>
              <a:rPr b="1" lang="es-419" sz="2100">
                <a:latin typeface="Arial"/>
                <a:ea typeface="Arial"/>
                <a:cs typeface="Arial"/>
                <a:sym typeface="Arial"/>
              </a:rPr>
              <a:t>máscara fija /20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2100">
                <a:latin typeface="Arial"/>
                <a:ea typeface="Arial"/>
                <a:cs typeface="Arial"/>
                <a:sym typeface="Arial"/>
              </a:rPr>
              <a:t>Usa </a:t>
            </a:r>
            <a:r>
              <a:rPr b="1" lang="es-419" sz="2100">
                <a:latin typeface="Arial"/>
                <a:ea typeface="Arial"/>
                <a:cs typeface="Arial"/>
                <a:sym typeface="Arial"/>
              </a:rPr>
              <a:t>10.0.0.0/8</a:t>
            </a:r>
            <a:r>
              <a:rPr lang="es-419" sz="2100">
                <a:latin typeface="Arial"/>
                <a:ea typeface="Arial"/>
                <a:cs typeface="Arial"/>
                <a:sym typeface="Arial"/>
              </a:rPr>
              <a:t> y crea subredes de </a:t>
            </a:r>
            <a:r>
              <a:rPr b="1" lang="es-419" sz="2100">
                <a:latin typeface="Arial"/>
                <a:ea typeface="Arial"/>
                <a:cs typeface="Arial"/>
                <a:sym typeface="Arial"/>
              </a:rPr>
              <a:t>4094 hosts</a:t>
            </a:r>
            <a:r>
              <a:rPr lang="es-419" sz="2100">
                <a:latin typeface="Arial"/>
                <a:ea typeface="Arial"/>
                <a:cs typeface="Arial"/>
                <a:sym typeface="Arial"/>
              </a:rPr>
              <a:t> (máscara /20).</a:t>
            </a:r>
            <a:endParaRPr b="1"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Conversiones de binario y decimal</a:t>
            </a:r>
            <a:endParaRPr/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450" y="1225225"/>
            <a:ext cx="4130150" cy="192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6574" y="2382275"/>
            <a:ext cx="3298074" cy="2465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Redes con clase</a:t>
            </a:r>
            <a:endParaRPr/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6575" y="1266150"/>
            <a:ext cx="3715725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Máscaras de subredes</a:t>
            </a:r>
            <a:endParaRPr/>
          </a:p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775" y="1295763"/>
            <a:ext cx="6842451" cy="321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Creación de subredes</a:t>
            </a:r>
            <a:endParaRPr/>
          </a:p>
        </p:txBody>
      </p:sp>
      <p:sp>
        <p:nvSpPr>
          <p:cNvPr id="124" name="Google Shape;124;p22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Primera utilizable como puerta de enlace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Apartir de la segunda se asigna a las host</a:t>
            </a: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6361" y="2468475"/>
            <a:ext cx="4831274" cy="238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